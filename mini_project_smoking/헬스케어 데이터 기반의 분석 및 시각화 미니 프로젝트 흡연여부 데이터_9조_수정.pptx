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3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304" r:id="rId26"/>
    <p:sldId id="282" r:id="rId27"/>
    <p:sldId id="283" r:id="rId28"/>
    <p:sldId id="284" r:id="rId29"/>
    <p:sldId id="285" r:id="rId30"/>
    <p:sldId id="305" r:id="rId31"/>
    <p:sldId id="290" r:id="rId32"/>
    <p:sldId id="291" r:id="rId33"/>
    <p:sldId id="292" r:id="rId34"/>
    <p:sldId id="306" r:id="rId35"/>
    <p:sldId id="296" r:id="rId36"/>
    <p:sldId id="298" r:id="rId37"/>
    <p:sldId id="299" r:id="rId38"/>
    <p:sldId id="302" r:id="rId39"/>
    <p:sldId id="301" r:id="rId40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hsMyMeyDh+6LAHVIA0m/bV3gyl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DD0BE7-49A9-49ED-AB51-8BCC2BBA9CA3}">
  <a:tblStyle styleId="{48DD0BE7-49A9-49ED-AB51-8BCC2BBA9C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51" d="100"/>
          <a:sy n="51" d="100"/>
        </p:scale>
        <p:origin x="90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980cf2294_2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b980cf2294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80cf2294_8_3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3b980cf2294_8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980cf2294_8_3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3b980cf2294_8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80cf2294_8_3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b980cf2294_8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80cf2294_8_3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b980cf2294_8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980cf2294_8_4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3b980cf2294_8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980cf2294_8_4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b980cf2294_8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980cf2294_8_4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g3b980cf2294_8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3907FBF1-1238-35E2-5FC2-E0AA3B07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980cf2294_8_438:notes">
            <a:extLst>
              <a:ext uri="{FF2B5EF4-FFF2-40B4-BE49-F238E27FC236}">
                <a16:creationId xmlns:a16="http://schemas.microsoft.com/office/drawing/2014/main" id="{9B03BFBB-85C1-2E92-5E82-BA8E7809D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3b980cf2294_8_438:notes">
            <a:extLst>
              <a:ext uri="{FF2B5EF4-FFF2-40B4-BE49-F238E27FC236}">
                <a16:creationId xmlns:a16="http://schemas.microsoft.com/office/drawing/2014/main" id="{2C4C795B-DB1C-F862-B214-032C434F8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2665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980cf2294_8_4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3b980cf2294_8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980cf2294_8_4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3b980cf2294_8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980cf2294_8_4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3b980cf2294_8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980cf2294_8_4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3b980cf2294_8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980cf2294_8_4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g3b980cf2294_8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980cf2294_8_5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g3b980cf2294_8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980cf2294_8_5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g3b980cf2294_8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980cf2294_8_5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g3b980cf2294_8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980cf2294_8_5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3b980cf2294_8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980cf2294_8_5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g3b980cf2294_8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9929cf599_1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3b9929cf599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>
          <a:extLst>
            <a:ext uri="{FF2B5EF4-FFF2-40B4-BE49-F238E27FC236}">
              <a16:creationId xmlns:a16="http://schemas.microsoft.com/office/drawing/2014/main" id="{4405D6B8-CE5C-0E9B-48B1-B3734183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9929cf599_1_126:notes">
            <a:extLst>
              <a:ext uri="{FF2B5EF4-FFF2-40B4-BE49-F238E27FC236}">
                <a16:creationId xmlns:a16="http://schemas.microsoft.com/office/drawing/2014/main" id="{538FEA1E-056D-EF58-DF17-637C9E5E4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3b9929cf599_1_126:notes">
            <a:extLst>
              <a:ext uri="{FF2B5EF4-FFF2-40B4-BE49-F238E27FC236}">
                <a16:creationId xmlns:a16="http://schemas.microsoft.com/office/drawing/2014/main" id="{8AF1DEFF-95AD-A684-7D82-39315CE64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5897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9929cf599_1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g3b9929cf599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980cf2294_8_8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g3b980cf2294_8_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980cf2294_8_9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6" name="Google Shape;556;g3b980cf2294_8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980cf2294_8_9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9" name="Google Shape;579;g3b980cf2294_8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>
          <a:extLst>
            <a:ext uri="{FF2B5EF4-FFF2-40B4-BE49-F238E27FC236}">
              <a16:creationId xmlns:a16="http://schemas.microsoft.com/office/drawing/2014/main" id="{9DDE8B26-41E9-410A-24A4-256D374C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980cf2294_8_1008:notes">
            <a:extLst>
              <a:ext uri="{FF2B5EF4-FFF2-40B4-BE49-F238E27FC236}">
                <a16:creationId xmlns:a16="http://schemas.microsoft.com/office/drawing/2014/main" id="{DAA5F82A-251B-21FA-3D4B-4F989FD26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0" name="Google Shape;670;g3b980cf2294_8_1008:notes">
            <a:extLst>
              <a:ext uri="{FF2B5EF4-FFF2-40B4-BE49-F238E27FC236}">
                <a16:creationId xmlns:a16="http://schemas.microsoft.com/office/drawing/2014/main" id="{BFB038A6-B5F3-5F02-3247-E93C5D9DE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3794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980cf2294_8_10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0" name="Google Shape;670;g3b980cf2294_8_1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9929cf599_1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g3b9929cf599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9" name="Google Shape;6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D2FA4F84-7D62-5453-7353-E9BD1470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4:notes">
            <a:extLst>
              <a:ext uri="{FF2B5EF4-FFF2-40B4-BE49-F238E27FC236}">
                <a16:creationId xmlns:a16="http://schemas.microsoft.com/office/drawing/2014/main" id="{E41DD6EF-7644-115B-D3DE-8739657FB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8" name="Google Shape;768;p34:notes">
            <a:extLst>
              <a:ext uri="{FF2B5EF4-FFF2-40B4-BE49-F238E27FC236}">
                <a16:creationId xmlns:a16="http://schemas.microsoft.com/office/drawing/2014/main" id="{C7C5CE35-AA9C-9B2C-4162-2FE5DDDD5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46291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8" name="Google Shape;7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b9929cf599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6" name="Google Shape;806;g3b9929cf599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b9929cf599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6" name="Google Shape;816;g3b9929cf599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6" name="Google Shape;8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4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63.png"/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1.png"/><Relationship Id="rId5" Type="http://schemas.openxmlformats.org/officeDocument/2006/relationships/image" Target="../media/image57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5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8.png"/><Relationship Id="rId7" Type="http://schemas.openxmlformats.org/officeDocument/2006/relationships/hyperlink" Target="https://www.ekjm.org/upload/42830089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-jnh.org/DOIx.php?id=10.4163/jnh.2019.52.3.268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7.png"/><Relationship Id="rId10" Type="http://schemas.openxmlformats.org/officeDocument/2006/relationships/image" Target="../media/image79.png"/><Relationship Id="rId4" Type="http://schemas.openxmlformats.org/officeDocument/2006/relationships/image" Target="../media/image2.png"/><Relationship Id="rId9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2.png"/><Relationship Id="rId9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2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3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5511531/#:~:text=Results:%20The%20smokers%20had%20significantly%20higher%20levels,in%20males%20in%20comparison%20to%20female%20smokers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4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5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9793780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2.png"/><Relationship Id="rId7" Type="http://schemas.openxmlformats.org/officeDocument/2006/relationships/image" Target="../media/image8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30400" y="1676400"/>
            <a:ext cx="86995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2165350" y="1917700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125" rIns="0" bIns="491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헬스케어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기반의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</a:t>
            </a: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미니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endParaRPr sz="3868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981200" y="3822700"/>
            <a:ext cx="15684500" cy="3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75" rIns="0" bIns="0" anchor="ctr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9"/>
              <a:buFont typeface="Arial"/>
              <a:buNone/>
            </a:pPr>
            <a:r>
              <a:rPr lang="en-US" sz="950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흡연 여부 데이터 분석</a:t>
            </a:r>
            <a:endParaRPr sz="9509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0502900"/>
            <a:ext cx="226695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43100" y="10922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162300" y="11785600"/>
            <a:ext cx="6832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250" rIns="0" bIns="372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OZ코딩스쿨</a:t>
            </a:r>
            <a:endParaRPr sz="3200" b="1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0574000" y="8072497"/>
            <a:ext cx="243840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내 계좌 9조</a:t>
            </a:r>
            <a:endParaRPr sz="32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신재욱</a:t>
            </a:r>
            <a:endParaRPr sz="32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신정호</a:t>
            </a:r>
            <a:endParaRPr sz="32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정정화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21945600" y="131065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3F3F3F"/>
                </a:solidFill>
              </a:rPr>
              <a:t>1</a:t>
            </a:fld>
            <a:endParaRPr sz="1400" b="1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5593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sp>
        <p:nvSpPr>
          <p:cNvPr id="104" name="Google Shape;104;p2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1886" y="3822700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3156857" y="434975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en-US" sz="302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3029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07900" y="3822700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13906500" y="4346377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en-US" sz="302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탐색적 데이터 분석 (EDA)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365736" y="4186936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382" y="6903593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3284819" y="5772150"/>
            <a:ext cx="8661400" cy="226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en-US" sz="302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1. </a:t>
            </a:r>
            <a:r>
              <a:rPr lang="en-US" sz="302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정상 BMI' 범위 내에서 흡연여부와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(중성 지방 / HDL 비율)의 상관관계</a:t>
            </a:r>
            <a:endParaRPr sz="302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680882" y="7303643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37782" y="6903593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3906500" y="6713093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en-US" sz="302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2. </a:t>
            </a:r>
            <a:r>
              <a:rPr lang="en-US" sz="302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범주에 따른 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 여부와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헤모글로빈 수치  및 간 효소율 상관관계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endParaRPr sz="302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2374282" y="7284593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2555070" y="7043293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4500" y="10020300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3159578" y="99060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en-US" sz="302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3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정상 BMI' 범위 내에서 흡연여부와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나이 및 혈청 크레아티닌의 상관관계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endParaRPr sz="302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07900" y="10020300"/>
            <a:ext cx="10223500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13906500" y="105664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9"/>
              <a:buFont typeface="Arial"/>
              <a:buNone/>
            </a:pPr>
            <a:r>
              <a:rPr lang="ko-KR" altLang="en-US" sz="3029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3029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2357100" y="103632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2522200" y="10172700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5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1676400" y="103632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828800" y="10172700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 txBox="1"/>
          <p:nvPr/>
        </p:nvSpPr>
        <p:spPr>
          <a:xfrm>
            <a:off x="1653987" y="4166724"/>
            <a:ext cx="1397000" cy="864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350" rIns="0" bIns="6335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88"/>
              <a:buFont typeface="Arial"/>
              <a:buNone/>
            </a:pPr>
            <a:r>
              <a:rPr lang="en-US" sz="498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2522618" y="3966180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839632" y="7048149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812737" y="3919074"/>
            <a:ext cx="107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215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3999" cy="13715999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9600" y="8915400"/>
            <a:ext cx="20612099" cy="431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2173100" y="9395775"/>
            <a:ext cx="19617300" cy="4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762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  흡연자와 비흡연자 간의 건강 지표 차이 분석</a:t>
            </a: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</a:t>
            </a: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00" i="0" u="none" strike="noStrike" cap="none">
                <a:solidFill>
                  <a:schemeClr val="dk1"/>
                </a:solidFill>
              </a:rPr>
              <a:t>    </a:t>
            </a:r>
            <a:r>
              <a:rPr lang="en-US" sz="3000" i="0" u="none" strike="noStrike" cap="none">
                <a:solidFill>
                  <a:schemeClr val="dk1"/>
                </a:solidFill>
              </a:rPr>
              <a:t>흡연으로 인한 특정 질병 위험 요인들을 데이터로 입증</a:t>
            </a: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762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  주요 변수들의 분포, 상관관계, 통계적 유의성 검증</a:t>
            </a: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762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  시각화를 통한 데이터 인사이트 도출</a:t>
            </a: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762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  추후 흡연 여부 예측 모델 개발을 위한 기초 분석 기반 마련 </a:t>
            </a: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762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br>
              <a:rPr lang="en-US" sz="3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3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4178300" y="912400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ctr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9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210300" y="7925475"/>
            <a:ext cx="120141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2"/>
              <a:buFont typeface="Arial"/>
              <a:buNone/>
            </a:pPr>
            <a:r>
              <a:rPr lang="en-US" sz="466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4950" y="2436663"/>
            <a:ext cx="9753600" cy="5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980cf2294_2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b980cf2294_2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149" name="Google Shape;149;g3b980cf2294_2_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b980cf2294_2_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b980cf2294_2_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b980cf2294_2_5"/>
          <p:cNvSpPr txBox="1"/>
          <p:nvPr/>
        </p:nvSpPr>
        <p:spPr>
          <a:xfrm>
            <a:off x="1739900" y="1333500"/>
            <a:ext cx="192150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/>
              <a:t>예방이 가능? 쉽지않지만……</a:t>
            </a:r>
            <a:endParaRPr sz="47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b980cf2294_2_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78000" y="3556000"/>
            <a:ext cx="6642101" cy="58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980cf2294_2_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94000" y="7213600"/>
            <a:ext cx="52451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b980cf2294_2_5"/>
          <p:cNvSpPr txBox="1"/>
          <p:nvPr/>
        </p:nvSpPr>
        <p:spPr>
          <a:xfrm>
            <a:off x="2324174" y="4991000"/>
            <a:ext cx="6172201" cy="2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25" rIns="0" bIns="161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1"/>
              <a:buFont typeface="Arial"/>
              <a:buNone/>
            </a:pPr>
            <a:r>
              <a:rPr lang="en-US" sz="9451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약 </a:t>
            </a:r>
            <a:r>
              <a:rPr lang="en-US" sz="12751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83억</a:t>
            </a:r>
            <a:r>
              <a:rPr lang="en-US" sz="94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명</a:t>
            </a:r>
            <a:endParaRPr sz="94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b980cf2294_2_5"/>
          <p:cNvSpPr txBox="1"/>
          <p:nvPr/>
        </p:nvSpPr>
        <p:spPr>
          <a:xfrm>
            <a:off x="3480225" y="4454650"/>
            <a:ext cx="3860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388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 세계 인구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b980cf2294_2_5"/>
          <p:cNvSpPr txBox="1"/>
          <p:nvPr/>
        </p:nvSpPr>
        <p:spPr>
          <a:xfrm>
            <a:off x="2730500" y="7716196"/>
            <a:ext cx="535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출처 - 유엔(UN)의 공식 추계 보고서,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미국 인구조사국(U.S. Census Bureau)**의 데이터를 바탕으로 한 예측치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b980cf2294_2_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74100" y="3556000"/>
            <a:ext cx="6642101" cy="58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b980cf2294_2_5"/>
          <p:cNvSpPr txBox="1"/>
          <p:nvPr/>
        </p:nvSpPr>
        <p:spPr>
          <a:xfrm>
            <a:off x="9277525" y="4965600"/>
            <a:ext cx="6070249" cy="2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25" rIns="0" bIns="161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1"/>
              <a:buFont typeface="Arial"/>
              <a:buNone/>
            </a:pPr>
            <a:r>
              <a:rPr lang="en-US" sz="94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약</a:t>
            </a:r>
            <a:r>
              <a:rPr lang="en-US" sz="12751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12억</a:t>
            </a:r>
            <a:r>
              <a:rPr lang="en-US" sz="94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b980cf2294_2_5"/>
          <p:cNvSpPr txBox="1"/>
          <p:nvPr/>
        </p:nvSpPr>
        <p:spPr>
          <a:xfrm>
            <a:off x="10376175" y="4454650"/>
            <a:ext cx="3860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3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 세계 흡연 인구</a:t>
            </a:r>
            <a:endParaRPr sz="38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980cf2294_2_5"/>
          <p:cNvSpPr txBox="1"/>
          <p:nvPr/>
        </p:nvSpPr>
        <p:spPr>
          <a:xfrm>
            <a:off x="9626600" y="7716196"/>
            <a:ext cx="535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출처 - WHO global report on trends in prevalence of tobacco use 2000–2030 (제6판, 2025년 10월 발행)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b980cf2294_2_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0100" y="7213600"/>
            <a:ext cx="52451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b980cf2294_2_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70200" y="3556000"/>
            <a:ext cx="6642101" cy="58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b980cf2294_2_5"/>
          <p:cNvSpPr txBox="1"/>
          <p:nvPr/>
        </p:nvSpPr>
        <p:spPr>
          <a:xfrm>
            <a:off x="16306800" y="4991100"/>
            <a:ext cx="5765700" cy="2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25" rIns="0" bIns="161925" anchor="ctr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</a:pPr>
            <a:r>
              <a:rPr lang="en-US" sz="29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5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예방 가능</a:t>
            </a:r>
            <a:r>
              <a:rPr lang="en-US" sz="29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 사망 원인 </a:t>
            </a:r>
            <a:r>
              <a:rPr lang="en-US" sz="61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9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위”</a:t>
            </a:r>
            <a:endParaRPr sz="10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b980cf2294_2_5"/>
          <p:cNvSpPr txBox="1"/>
          <p:nvPr/>
        </p:nvSpPr>
        <p:spPr>
          <a:xfrm>
            <a:off x="17259650" y="4482600"/>
            <a:ext cx="3860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358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338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분석? Why?</a:t>
            </a:r>
            <a:endParaRPr sz="1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b980cf2294_2_5"/>
          <p:cNvSpPr txBox="1"/>
          <p:nvPr/>
        </p:nvSpPr>
        <p:spPr>
          <a:xfrm>
            <a:off x="16510000" y="7716196"/>
            <a:ext cx="535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출처 -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Fact Sheets (Tobacco) / WHO Report on the Global Tobacco Epidemic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b980cf2294_2_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586200" y="7213600"/>
            <a:ext cx="52451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b980cf2294_2_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b980cf2294_8_3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b980cf2294_8_3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175" name="Google Shape;175;g3b980cf2294_8_3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9600" y="8915400"/>
            <a:ext cx="20612099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b980cf2294_8_340"/>
          <p:cNvSpPr txBox="1"/>
          <p:nvPr/>
        </p:nvSpPr>
        <p:spPr>
          <a:xfrm>
            <a:off x="2806700" y="9412250"/>
            <a:ext cx="18821400" cy="20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이곳에서는 전체 데이터의 구조와 변수 분포를 확인하고,</a:t>
            </a:r>
            <a:endParaRPr sz="3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결측치 확인/처리 및 변수들의 기본적인 관계를 탐색하여</a:t>
            </a:r>
            <a:endParaRPr sz="3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en-US" sz="3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이후 가설 검증에 활용할 주요 변수와 분석 방향을 도출합니다.</a:t>
            </a:r>
            <a:endParaRPr sz="3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b980cf2294_8_340"/>
          <p:cNvSpPr txBox="1"/>
          <p:nvPr/>
        </p:nvSpPr>
        <p:spPr>
          <a:xfrm>
            <a:off x="2070100" y="4762500"/>
            <a:ext cx="202566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ctr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탐색적 데이터 분석 (EDA)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b980cf2294_8_3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93500" y="2311400"/>
            <a:ext cx="1397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980cf2294_8_340"/>
          <p:cNvSpPr txBox="1"/>
          <p:nvPr/>
        </p:nvSpPr>
        <p:spPr>
          <a:xfrm>
            <a:off x="6210300" y="6642100"/>
            <a:ext cx="120141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2"/>
              <a:buFont typeface="Arial"/>
              <a:buNone/>
            </a:pPr>
            <a:r>
              <a:rPr lang="en-US" sz="466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b980cf2294_8_3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b980cf2294_8_3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186" name="Google Shape;186;g3b980cf2294_8_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977899" y="7696200"/>
            <a:ext cx="22428201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b980cf2294_8_3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7150100" y="7696200"/>
            <a:ext cx="10096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b980cf2294_8_350"/>
          <p:cNvSpPr txBox="1"/>
          <p:nvPr/>
        </p:nvSpPr>
        <p:spPr>
          <a:xfrm>
            <a:off x="1739900" y="1333500"/>
            <a:ext cx="194691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EDA 플로우</a:t>
            </a:r>
            <a:endParaRPr sz="4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b980cf2294_8_3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b980cf2294_8_3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980cf2294_8_35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b980cf2294_8_3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73428" y="3809999"/>
            <a:ext cx="29718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b980cf2294_8_350"/>
          <p:cNvSpPr txBox="1"/>
          <p:nvPr/>
        </p:nvSpPr>
        <p:spPr>
          <a:xfrm>
            <a:off x="2044700" y="3975100"/>
            <a:ext cx="23622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9"/>
              <a:buFont typeface="Arial"/>
              <a:buNone/>
            </a:pPr>
            <a:r>
              <a:rPr lang="en-US" sz="268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1단계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b980cf2294_8_350"/>
          <p:cNvSpPr txBox="1"/>
          <p:nvPr/>
        </p:nvSpPr>
        <p:spPr>
          <a:xfrm>
            <a:off x="1739900" y="4903200"/>
            <a:ext cx="97536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r>
              <a:rPr lang="en-US" sz="313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개요 파악 (Data Overview)</a:t>
            </a:r>
            <a:endParaRPr sz="313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“이 데이터는 어떤 모습인가?”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행/열 개수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주요 변수 목록 (BMI, Smoker, Hemoglobin, Liver enzyme 등)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변수 타입 (수치형 / 범주형)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endParaRPr sz="253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g3b980cf2294_8_35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035788" y="3828034"/>
            <a:ext cx="29718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980cf2294_8_350"/>
          <p:cNvSpPr txBox="1"/>
          <p:nvPr/>
        </p:nvSpPr>
        <p:spPr>
          <a:xfrm>
            <a:off x="13335000" y="3975100"/>
            <a:ext cx="23622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9"/>
              <a:buFont typeface="Arial"/>
              <a:buNone/>
            </a:pPr>
            <a:r>
              <a:rPr lang="en-US" sz="268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2단계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b980cf2294_8_350"/>
          <p:cNvSpPr txBox="1"/>
          <p:nvPr/>
        </p:nvSpPr>
        <p:spPr>
          <a:xfrm>
            <a:off x="12903200" y="4791575"/>
            <a:ext cx="97536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결측치 및 데이터 품질 점검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“이 데이터, 바로 써도 되나?”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결측치 존재 여부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제거 / 유지 / 대체 여부 판단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r>
              <a:rPr lang="en-US" sz="253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b980cf2294_8_35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73428" y="8902699"/>
            <a:ext cx="29718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b980cf2294_8_350"/>
          <p:cNvSpPr txBox="1"/>
          <p:nvPr/>
        </p:nvSpPr>
        <p:spPr>
          <a:xfrm>
            <a:off x="2044700" y="9042400"/>
            <a:ext cx="23622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9"/>
              <a:buFont typeface="Arial"/>
              <a:buNone/>
            </a:pPr>
            <a:r>
              <a:rPr lang="en-US" sz="268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3단계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b980cf2294_8_350"/>
          <p:cNvSpPr txBox="1"/>
          <p:nvPr/>
        </p:nvSpPr>
        <p:spPr>
          <a:xfrm>
            <a:off x="1739900" y="9969500"/>
            <a:ext cx="97536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r>
              <a:rPr lang="en-US" sz="3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주요 변수 분포 확인 (Univariate Analysis)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“각 변수는 어떻게 분포되어 있나?”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BMI 분포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헤모글로빈, 간 효소율 분포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히스토그램 / 박스플롯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b980cf2294_8_3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35788" y="8902699"/>
            <a:ext cx="29718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b980cf2294_8_350"/>
          <p:cNvSpPr txBox="1"/>
          <p:nvPr/>
        </p:nvSpPr>
        <p:spPr>
          <a:xfrm>
            <a:off x="13335000" y="9042400"/>
            <a:ext cx="23622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9"/>
              <a:buFont typeface="Arial"/>
              <a:buNone/>
            </a:pPr>
            <a:r>
              <a:rPr lang="en-US" sz="268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4단계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b980cf2294_8_350"/>
          <p:cNvSpPr txBox="1"/>
          <p:nvPr/>
        </p:nvSpPr>
        <p:spPr>
          <a:xfrm>
            <a:off x="12903200" y="9969500"/>
            <a:ext cx="9753600" cy="21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변수 간 관계 탐색</a:t>
            </a:r>
            <a:r>
              <a:rPr lang="en-US" sz="303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303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r>
              <a:rPr lang="en-U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“변수간 상관 관계가 있어 보이나?”</a:t>
            </a:r>
            <a:b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흡연 여부에 따른 차이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헤모글로빈 vs 간 효소율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히트맵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11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endParaRPr sz="253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b980cf2294_8_3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b980cf2294_8_3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10" name="Google Shape;210;g3b980cf2294_8_3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b980cf2294_8_37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b980cf2294_8_37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b980cf2294_8_373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1단계. 데이터 개요 파악 (Data Overview)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b980cf2294_8_3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15" name="Google Shape;215;g3b980cf2294_8_37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82850" y="5498525"/>
            <a:ext cx="8430775" cy="69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b980cf2294_8_373"/>
          <p:cNvSpPr txBox="1"/>
          <p:nvPr/>
        </p:nvSpPr>
        <p:spPr>
          <a:xfrm>
            <a:off x="1382850" y="4503345"/>
            <a:ext cx="3379800" cy="10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df.info()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b980cf2294_8_373"/>
          <p:cNvSpPr txBox="1"/>
          <p:nvPr/>
        </p:nvSpPr>
        <p:spPr>
          <a:xfrm>
            <a:off x="1382850" y="2931400"/>
            <a:ext cx="3379800" cy="16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df.shape 결과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7000개의 row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18개의 column을 가짐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g3b980cf2294_8_37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35335" y="2762550"/>
            <a:ext cx="8913860" cy="4699725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19" name="Google Shape;219;g3b980cf2294_8_37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75560" y="7857725"/>
            <a:ext cx="8913849" cy="4699725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sp>
        <p:nvSpPr>
          <p:cNvPr id="220" name="Google Shape;220;g3b980cf2294_8_373"/>
          <p:cNvSpPr txBox="1"/>
          <p:nvPr/>
        </p:nvSpPr>
        <p:spPr>
          <a:xfrm>
            <a:off x="19659143" y="2857500"/>
            <a:ext cx="2859300" cy="28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df.describe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결측치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존재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시력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공복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혈당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혈압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중성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지방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114300" marR="0" lvl="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편차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큼: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저밀도지단백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중성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지방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시력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b980cf2294_8_37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594757" y="6650475"/>
            <a:ext cx="3711086" cy="16236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2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b980cf2294_8_3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b980cf2294_8_3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28" name="Google Shape;228;g3b980cf2294_8_3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b980cf2294_8_38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b980cf2294_8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b980cf2294_8_389"/>
          <p:cNvSpPr txBox="1"/>
          <p:nvPr/>
        </p:nvSpPr>
        <p:spPr>
          <a:xfrm>
            <a:off x="1739900" y="1333500"/>
            <a:ext cx="192801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2단계. 데이터 품질 점검 및 결측치 처리_시력 결측치 처리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b980cf2294_8_389"/>
          <p:cNvSpPr txBox="1"/>
          <p:nvPr/>
        </p:nvSpPr>
        <p:spPr>
          <a:xfrm>
            <a:off x="1739900" y="28446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연령대별 시력 분포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b980cf2294_8_38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39900" y="10610850"/>
            <a:ext cx="12458700" cy="184785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35" name="Google Shape;235;g3b980cf2294_8_38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07500" y="10610850"/>
            <a:ext cx="7734300" cy="762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E4A4C7-0017-E419-5F97-1F6A83514A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899" y="3631999"/>
            <a:ext cx="10452101" cy="5212684"/>
          </a:xfrm>
          <a:prstGeom prst="rect">
            <a:avLst/>
          </a:prstGeom>
        </p:spPr>
      </p:pic>
      <p:pic>
        <p:nvPicPr>
          <p:cNvPr id="4" name="그림 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57ACAE-3A3F-9E43-D1B4-8E6ADAF223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57957" y="3631999"/>
            <a:ext cx="10492543" cy="5212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b980cf2294_8_4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b980cf2294_8_4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42" name="Google Shape;242;g3b980cf2294_8_4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b980cf2294_8_40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b980cf2294_8_40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b980cf2294_8_402"/>
          <p:cNvSpPr txBox="1"/>
          <p:nvPr/>
        </p:nvSpPr>
        <p:spPr>
          <a:xfrm>
            <a:off x="1739900" y="1333500"/>
            <a:ext cx="192801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2단계. 데이터 품질 점검 및 결측치 처리_공복 혈당 결측치 처리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b980cf2294_8_402"/>
          <p:cNvSpPr txBox="1"/>
          <p:nvPr/>
        </p:nvSpPr>
        <p:spPr>
          <a:xfrm>
            <a:off x="1739900" y="28446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공복 혈당 분포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b980cf2294_8_40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893800" y="3429000"/>
            <a:ext cx="9182100" cy="329565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FE23A8-34B4-F644-EF65-1EB90BC6C0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899" y="3632001"/>
            <a:ext cx="12153901" cy="5999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b980cf2294_8_4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b980cf2294_8_4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55" name="Google Shape;255;g3b980cf2294_8_4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b980cf2294_8_4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b980cf2294_8_4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b980cf2294_8_414"/>
          <p:cNvSpPr txBox="1"/>
          <p:nvPr/>
        </p:nvSpPr>
        <p:spPr>
          <a:xfrm>
            <a:off x="1739900" y="1333500"/>
            <a:ext cx="192801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2단계. 데이터 품질 점검 및 결측치 처리_혈압 결측치 처리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b980cf2294_8_414"/>
          <p:cNvSpPr txBox="1"/>
          <p:nvPr/>
        </p:nvSpPr>
        <p:spPr>
          <a:xfrm>
            <a:off x="1739900" y="28446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level에 따른 혈압 분포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3b980cf2294_8_4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134050" y="3632000"/>
            <a:ext cx="7772399" cy="3179618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5" name="그림 4" descr="텍스트, 도표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2136E-C970-97D8-187F-B65D5E2D9A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899" y="3632000"/>
            <a:ext cx="13191515" cy="6604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b980cf2294_8_4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b980cf2294_8_4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68" name="Google Shape;268;g3b980cf2294_8_4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b980cf2294_8_4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b980cf2294_8_4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b980cf2294_8_426"/>
          <p:cNvSpPr txBox="1"/>
          <p:nvPr/>
        </p:nvSpPr>
        <p:spPr>
          <a:xfrm>
            <a:off x="1739900" y="1333500"/>
            <a:ext cx="192801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2단계. 데이터 품질 점검 및 결측치 처리_중성 지방 결측치 처리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b980cf2294_8_426"/>
          <p:cNvSpPr txBox="1"/>
          <p:nvPr/>
        </p:nvSpPr>
        <p:spPr>
          <a:xfrm>
            <a:off x="1739900" y="28446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레벨에 따른 중성지방 분포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b980cf2294_8_4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117900" y="3429000"/>
            <a:ext cx="7835450" cy="3227675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" name="그림 2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A3C455-1A51-00F1-B5D5-00AD9E89C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899" y="3632000"/>
            <a:ext cx="12901241" cy="640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E32E6CE9-81C3-61F9-850C-92FA21F1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b980cf2294_8_438">
            <a:extLst>
              <a:ext uri="{FF2B5EF4-FFF2-40B4-BE49-F238E27FC236}">
                <a16:creationId xmlns:a16="http://schemas.microsoft.com/office/drawing/2014/main" id="{8E545A01-5AFF-4B4C-B1FD-184DB15F03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b980cf2294_8_438">
            <a:extLst>
              <a:ext uri="{FF2B5EF4-FFF2-40B4-BE49-F238E27FC236}">
                <a16:creationId xmlns:a16="http://schemas.microsoft.com/office/drawing/2014/main" id="{A0F4E74B-03EA-AD24-1F22-CFF3595DFF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81" name="Google Shape;281;g3b980cf2294_8_438">
            <a:extLst>
              <a:ext uri="{FF2B5EF4-FFF2-40B4-BE49-F238E27FC236}">
                <a16:creationId xmlns:a16="http://schemas.microsoft.com/office/drawing/2014/main" id="{12694625-0259-6D18-7270-7289A0D70F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b980cf2294_8_438">
            <a:extLst>
              <a:ext uri="{FF2B5EF4-FFF2-40B4-BE49-F238E27FC236}">
                <a16:creationId xmlns:a16="http://schemas.microsoft.com/office/drawing/2014/main" id="{0C542427-35F6-F130-CF59-D06A31ADD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980cf2294_8_438">
            <a:extLst>
              <a:ext uri="{FF2B5EF4-FFF2-40B4-BE49-F238E27FC236}">
                <a16:creationId xmlns:a16="http://schemas.microsoft.com/office/drawing/2014/main" id="{F8E717D9-E08F-9C89-DBE0-59B8C5954E0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b980cf2294_8_438">
            <a:extLst>
              <a:ext uri="{FF2B5EF4-FFF2-40B4-BE49-F238E27FC236}">
                <a16:creationId xmlns:a16="http://schemas.microsoft.com/office/drawing/2014/main" id="{DFD49A38-ABFB-688E-29A1-43FD4CE398FA}"/>
              </a:ext>
            </a:extLst>
          </p:cNvPr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 descr="도표, 평면도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CE4AEA-CC0F-3246-82AC-3DE94911A9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400" y="3810000"/>
            <a:ext cx="10896602" cy="6096000"/>
          </a:xfrm>
          <a:prstGeom prst="rect">
            <a:avLst/>
          </a:prstGeom>
        </p:spPr>
      </p:pic>
      <p:pic>
        <p:nvPicPr>
          <p:cNvPr id="7" name="그림 6" descr="도표, 평면도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CB8FD-1C87-34FA-F6CF-04BB8BBA87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11049" y="3810000"/>
            <a:ext cx="10896602" cy="6096000"/>
          </a:xfrm>
          <a:prstGeom prst="rect">
            <a:avLst/>
          </a:prstGeom>
        </p:spPr>
      </p:pic>
      <p:sp>
        <p:nvSpPr>
          <p:cNvPr id="8" name="Google Shape;286;g3b980cf2294_8_438">
            <a:extLst>
              <a:ext uri="{FF2B5EF4-FFF2-40B4-BE49-F238E27FC236}">
                <a16:creationId xmlns:a16="http://schemas.microsoft.com/office/drawing/2014/main" id="{124E86BF-8A36-C276-159F-472A16F955CB}"/>
              </a:ext>
            </a:extLst>
          </p:cNvPr>
          <p:cNvSpPr txBox="1"/>
          <p:nvPr/>
        </p:nvSpPr>
        <p:spPr>
          <a:xfrm>
            <a:off x="1501000" y="2974500"/>
            <a:ext cx="6042800" cy="4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모든 연속형 변수의 분포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확인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왜도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파악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89;g3b980cf2294_8_438">
            <a:extLst>
              <a:ext uri="{FF2B5EF4-FFF2-40B4-BE49-F238E27FC236}">
                <a16:creationId xmlns:a16="http://schemas.microsoft.com/office/drawing/2014/main" id="{D390C0BF-C89E-66AE-B428-667976CA0114}"/>
              </a:ext>
            </a:extLst>
          </p:cNvPr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왜도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&gt;1.5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변수 로그 변환 후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9261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b980cf2294_8_4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b980cf2294_8_4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81" name="Google Shape;281;g3b980cf2294_8_4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b980cf2294_8_4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980cf2294_8_4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b980cf2294_8_438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b980cf2294_8_438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연령대에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따른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확인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b980cf2294_8_438"/>
          <p:cNvSpPr txBox="1"/>
          <p:nvPr/>
        </p:nvSpPr>
        <p:spPr>
          <a:xfrm>
            <a:off x="1349950" y="107754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흡연자들은 낮은 연령대에 많이 분포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b980cf2294_8_438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충치 여부별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b980cf2294_8_438"/>
          <p:cNvSpPr txBox="1"/>
          <p:nvPr/>
        </p:nvSpPr>
        <p:spPr>
          <a:xfrm>
            <a:off x="12489324" y="10793329"/>
            <a:ext cx="9814863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충치가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사람은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비흡연자와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차이가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많이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나지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않음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57F5BD-1E9E-3CAE-4EE5-F631174A1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4" y="3891799"/>
            <a:ext cx="10082970" cy="6248601"/>
          </a:xfrm>
          <a:prstGeom prst="rect">
            <a:avLst/>
          </a:prstGeom>
        </p:spPr>
      </p:pic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DEC552-D628-8027-E3CC-D1EA639CCD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9324" y="3891798"/>
            <a:ext cx="10082970" cy="62486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b980cf2294_8_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b980cf2294_8_4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298" name="Google Shape;298;g3b980cf2294_8_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b980cf2294_8_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b980cf2294_8_4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b980cf2294_8_454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b980cf2294_8_454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 단백 단계별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b980cf2294_8_454"/>
          <p:cNvSpPr txBox="1"/>
          <p:nvPr/>
        </p:nvSpPr>
        <p:spPr>
          <a:xfrm>
            <a:off x="1349950" y="107754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전반적으로 1에 많이 몰려있음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b980cf2294_8_454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요단백 단계1을 제거 후 분포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b980cf2294_8_454"/>
          <p:cNvSpPr txBox="1"/>
          <p:nvPr/>
        </p:nvSpPr>
        <p:spPr>
          <a:xfrm>
            <a:off x="12489325" y="10775400"/>
            <a:ext cx="8671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흡연자와 비흡연자 간 다른 경향성이 보이진 않음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4259BA-A794-A91D-D95B-BEA5CE4A3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000" y="3891799"/>
            <a:ext cx="10082970" cy="6248601"/>
          </a:xfrm>
          <a:prstGeom prst="rect">
            <a:avLst/>
          </a:prstGeom>
        </p:spPr>
      </p:pic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0E7505-4A09-81F5-D5FB-CE95306296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7100" y="3891798"/>
            <a:ext cx="10082970" cy="62486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b980cf2294_8_4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b980cf2294_8_4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14" name="Google Shape;314;g3b980cf2294_8_4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b980cf2294_8_4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b980cf2294_8_4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b980cf2294_8_469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b980cf2294_8_469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단계별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b980cf2294_8_469"/>
          <p:cNvSpPr txBox="1"/>
          <p:nvPr/>
        </p:nvSpPr>
        <p:spPr>
          <a:xfrm>
            <a:off x="1349950" y="10775400"/>
            <a:ext cx="9694568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과체중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비만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그룹에서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수의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차이가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않음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b980cf2294_8_469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시력에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b980cf2294_8_469"/>
          <p:cNvSpPr txBox="1"/>
          <p:nvPr/>
        </p:nvSpPr>
        <p:spPr>
          <a:xfrm>
            <a:off x="12489325" y="10775400"/>
            <a:ext cx="8671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시력은 경향성을 찾기 어려움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B9A8FB-2F72-ADAB-CA4A-1B0D7E16EB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000" y="3891799"/>
            <a:ext cx="10082970" cy="6248601"/>
          </a:xfrm>
          <a:prstGeom prst="rect">
            <a:avLst/>
          </a:prstGeom>
        </p:spPr>
      </p:pic>
      <p:pic>
        <p:nvPicPr>
          <p:cNvPr id="5" name="그림 4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CCBB3F-D954-B402-FADA-0D75908F2B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521" y="3891798"/>
            <a:ext cx="11162979" cy="624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3b980cf2294_8_4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b980cf2294_8_4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30" name="Google Shape;330;g3b980cf2294_8_4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b980cf2294_8_4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b980cf2294_8_4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b980cf2294_8_484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b980cf2294_8_484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혈압에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b980cf2294_8_484"/>
          <p:cNvSpPr txBox="1"/>
          <p:nvPr/>
        </p:nvSpPr>
        <p:spPr>
          <a:xfrm>
            <a:off x="1349950" y="10775400"/>
            <a:ext cx="84189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비흡연자는 낮은 bp쪽으로 몰려있고, </a:t>
            </a:r>
            <a:b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흡연자는 높은 bp쪽으로 몰려있음(추가 확인 필요)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b980cf2294_8_484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공복 혈당 단계별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b980cf2294_8_484"/>
          <p:cNvSpPr txBox="1"/>
          <p:nvPr/>
        </p:nvSpPr>
        <p:spPr>
          <a:xfrm>
            <a:off x="12489325" y="10775400"/>
            <a:ext cx="84189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당뇨병이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의심되는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사람에서는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크게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차이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안남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도표, 지도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15FE5-326C-265E-2C1D-1EBAC0D2A9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000" y="3891800"/>
            <a:ext cx="10483698" cy="5915500"/>
          </a:xfrm>
          <a:prstGeom prst="rect">
            <a:avLst/>
          </a:prstGeom>
        </p:spPr>
      </p:pic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FA1A4-76B7-9EAA-734E-E20BF29F51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7100" y="3891799"/>
            <a:ext cx="9545464" cy="59154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g3b980cf2294_8_4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b980cf2294_8_4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46" name="Google Shape;346;g3b980cf2294_8_49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b980cf2294_8_49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b980cf2294_8_49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b980cf2294_8_499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b980cf2294_8_499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중성 지방 레벨에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b980cf2294_8_499"/>
          <p:cNvSpPr txBox="1"/>
          <p:nvPr/>
        </p:nvSpPr>
        <p:spPr>
          <a:xfrm>
            <a:off x="1349950" y="10775400"/>
            <a:ext cx="82488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고중성지방혈증은 흡연자가 비흡연자보다 많음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b980cf2294_8_499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HDL 범주별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b980cf2294_8_499"/>
          <p:cNvSpPr txBox="1"/>
          <p:nvPr/>
        </p:nvSpPr>
        <p:spPr>
          <a:xfrm>
            <a:off x="12489324" y="10775400"/>
            <a:ext cx="898637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비흡연자에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비해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수치가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낮은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쪽으로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분포가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몰려있음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CE1750-BF3A-F665-5A34-D580960CC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9950" y="3891799"/>
            <a:ext cx="10082970" cy="6248601"/>
          </a:xfrm>
          <a:prstGeom prst="rect">
            <a:avLst/>
          </a:prstGeom>
        </p:spPr>
      </p:pic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F68D0D-184E-EE52-5486-0962739ECE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0" y="3924200"/>
            <a:ext cx="10082968" cy="624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b980cf2294_8_5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b980cf2294_8_5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62" name="Google Shape;362;g3b980cf2294_8_5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b980cf2294_8_5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b980cf2294_8_5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b980cf2294_8_514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980cf2294_8_514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LDL 수치에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b980cf2294_8_514"/>
          <p:cNvSpPr txBox="1"/>
          <p:nvPr/>
        </p:nvSpPr>
        <p:spPr>
          <a:xfrm>
            <a:off x="1349950" y="10775400"/>
            <a:ext cx="8671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LDL은 경향성을 찾기 어려움 좀 더 복합적인 분석 필요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b980cf2294_8_514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콜레스테롤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범주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별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확인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b980cf2294_8_514"/>
          <p:cNvSpPr txBox="1"/>
          <p:nvPr/>
        </p:nvSpPr>
        <p:spPr>
          <a:xfrm>
            <a:off x="12489325" y="10775400"/>
            <a:ext cx="8671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cholesterol은 경향성을 찾기 어려움 좀 더 복합적인 분석 필요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도표, 지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984DC-EB31-CFAA-68BC-292E3177B6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9950" y="3891800"/>
            <a:ext cx="10483698" cy="5915500"/>
          </a:xfrm>
          <a:prstGeom prst="rect">
            <a:avLst/>
          </a:prstGeom>
        </p:spPr>
      </p:pic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77A442-AC8E-0F31-0C31-CB9F2353A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0" y="3891800"/>
            <a:ext cx="9545466" cy="5915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b980cf2294_8_5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b980cf2294_8_5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78" name="Google Shape;378;g3b980cf2294_8_5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b980cf2294_8_5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b980cf2294_8_5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b980cf2294_8_529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b980cf2294_8_529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크레아티닌 수치에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b980cf2294_8_529"/>
          <p:cNvSpPr txBox="1"/>
          <p:nvPr/>
        </p:nvSpPr>
        <p:spPr>
          <a:xfrm>
            <a:off x="1349949" y="10793329"/>
            <a:ext cx="6252121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흡연자가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혈청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크레아티닌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수치가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높음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b980cf2294_8_529"/>
          <p:cNvSpPr txBox="1"/>
          <p:nvPr/>
        </p:nvSpPr>
        <p:spPr>
          <a:xfrm>
            <a:off x="123571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헤모글로빈 수치별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b980cf2294_8_529"/>
          <p:cNvSpPr txBox="1"/>
          <p:nvPr/>
        </p:nvSpPr>
        <p:spPr>
          <a:xfrm>
            <a:off x="12489325" y="10775400"/>
            <a:ext cx="8671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흡연자가 헤모글로빈 수치가 더 높음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8BF715-7B24-7C42-F79C-783EFDB775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584" y="3891800"/>
            <a:ext cx="10736317" cy="5915500"/>
          </a:xfrm>
          <a:prstGeom prst="rect">
            <a:avLst/>
          </a:prstGeom>
        </p:spPr>
      </p:pic>
      <p:pic>
        <p:nvPicPr>
          <p:cNvPr id="5" name="그림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5811D3-D99D-7A4C-4979-6677ED79F3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7100" y="3891800"/>
            <a:ext cx="10483698" cy="5915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b980cf2294_8_5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b980cf2294_8_5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394" name="Google Shape;394;g3b980cf2294_8_5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b980cf2294_8_5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b980cf2294_8_5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b980cf2294_8_544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3단계. 주요 변수 분포 확인 (Univariate Analysis)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b980cf2294_8_544"/>
          <p:cNvSpPr txBox="1"/>
          <p:nvPr/>
        </p:nvSpPr>
        <p:spPr>
          <a:xfrm>
            <a:off x="1501000" y="2974500"/>
            <a:ext cx="5488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간 효소율에 따른 흡연자 수 확인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b980cf2294_8_544"/>
          <p:cNvSpPr txBox="1"/>
          <p:nvPr/>
        </p:nvSpPr>
        <p:spPr>
          <a:xfrm>
            <a:off x="1349950" y="10775400"/>
            <a:ext cx="9084968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간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효소율은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흡연자가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더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낮은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레벨에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분포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왼쪽으로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치우침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7BCFC1-5298-54EE-FB03-F4A9C1C6B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0999" y="3891800"/>
            <a:ext cx="10573727" cy="5966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g3b980cf2294_8_5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b980cf2294_8_5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407" name="Google Shape;407;g3b980cf2294_8_5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b980cf2294_8_5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b980cf2294_8_5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b980cf2294_8_556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4단계. 변수 간 관계 탐색</a:t>
            </a:r>
            <a:endParaRPr sz="4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b980cf2294_8_5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412" name="Google Shape;412;g3b980cf2294_8_5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39900" y="3313900"/>
            <a:ext cx="9848850" cy="84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b980cf2294_8_556"/>
          <p:cNvSpPr txBox="1"/>
          <p:nvPr/>
        </p:nvSpPr>
        <p:spPr>
          <a:xfrm>
            <a:off x="13357150" y="4131199"/>
            <a:ext cx="8085300" cy="553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관계를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보이는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변수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양의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상관관계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헤모글로빈과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흡연여부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0.40)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중성지방과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0.34)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크레아틴과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헤모글로빈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0.34)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ldl과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콜레스테롤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0.72)</a:t>
            </a: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음의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상관관계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hdl과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-0.34)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간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효소율과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-0.38)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간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효소율과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헤모글로빈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-0.38)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중성지방과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상관계수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-0.43)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g3b980cf2294_8_5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b980cf2294_8_5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420" name="Google Shape;420;g3b980cf2294_8_5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3100" y="11404600"/>
            <a:ext cx="20497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b980cf2294_8_5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27100" y="11010900"/>
            <a:ext cx="25781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b980cf2294_8_568"/>
          <p:cNvSpPr txBox="1"/>
          <p:nvPr/>
        </p:nvSpPr>
        <p:spPr>
          <a:xfrm>
            <a:off x="13893650" y="11144300"/>
            <a:ext cx="2082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p-value </a:t>
            </a: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g3b980cf2294_8_5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b980cf2294_8_56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b980cf2294_8_56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b980cf2294_8_568"/>
          <p:cNvSpPr txBox="1"/>
          <p:nvPr/>
        </p:nvSpPr>
        <p:spPr>
          <a:xfrm>
            <a:off x="1739900" y="1333500"/>
            <a:ext cx="180720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확인과정</a:t>
            </a:r>
            <a:endParaRPr sz="4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g3b980cf2294_8_56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74800" y="4737100"/>
            <a:ext cx="4775200" cy="48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b980cf2294_8_568"/>
          <p:cNvSpPr txBox="1"/>
          <p:nvPr/>
        </p:nvSpPr>
        <p:spPr>
          <a:xfrm>
            <a:off x="2259425" y="6718300"/>
            <a:ext cx="39651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귀무가설은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관측된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차이가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우연에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의해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발생했을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가능성을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가정한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가설이며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통계적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검정은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이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가정을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반박할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수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있는지를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판단한다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g3b980cf2294_8_5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57500" y="5575300"/>
            <a:ext cx="28702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b980cf2294_8_568"/>
          <p:cNvSpPr txBox="1"/>
          <p:nvPr/>
        </p:nvSpPr>
        <p:spPr>
          <a:xfrm>
            <a:off x="3073400" y="57150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귀무가설(H₀)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g3b980cf2294_8_5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5900" y="11010900"/>
            <a:ext cx="25781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b980cf2294_8_568"/>
          <p:cNvSpPr txBox="1"/>
          <p:nvPr/>
        </p:nvSpPr>
        <p:spPr>
          <a:xfrm>
            <a:off x="2876550" y="11144300"/>
            <a:ext cx="2336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귀무가설</a:t>
            </a:r>
            <a:r>
              <a:rPr lang="en-US" sz="288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수립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b980cf2294_8_56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08800" y="3721100"/>
            <a:ext cx="4775200" cy="48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b980cf2294_8_568"/>
          <p:cNvSpPr txBox="1"/>
          <p:nvPr/>
        </p:nvSpPr>
        <p:spPr>
          <a:xfrm>
            <a:off x="7797800" y="5702300"/>
            <a:ext cx="3645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단변량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변수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자체의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특성을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확인하고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이변량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변수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간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관계가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존재하는지를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탐색한다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g3b980cf2294_8_56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230100" y="4737100"/>
            <a:ext cx="4775200" cy="48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b980cf2294_8_568"/>
          <p:cNvSpPr txBox="1"/>
          <p:nvPr/>
        </p:nvSpPr>
        <p:spPr>
          <a:xfrm>
            <a:off x="13119100" y="6718300"/>
            <a:ext cx="3645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검정을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관측된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차이가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우연에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의해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발생했을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가능성을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계산하여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검정의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근거로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활용한다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g3b980cf2294_8_56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64300" y="11112500"/>
            <a:ext cx="6350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3b980cf2294_8_56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7564100" y="3721100"/>
            <a:ext cx="4775200" cy="48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b980cf2294_8_568"/>
          <p:cNvSpPr txBox="1"/>
          <p:nvPr/>
        </p:nvSpPr>
        <p:spPr>
          <a:xfrm>
            <a:off x="18453100" y="5702300"/>
            <a:ext cx="3645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설정한 유의수준을 기준으로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통계 검정 결과를 해석하여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귀무가설을 기각하고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대립가설을 채택할지 여부를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결정하는 과정이다.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g3b980cf2294_8_56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91500" y="11010900"/>
            <a:ext cx="25781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b980cf2294_8_568"/>
          <p:cNvSpPr txBox="1"/>
          <p:nvPr/>
        </p:nvSpPr>
        <p:spPr>
          <a:xfrm>
            <a:off x="8246034" y="11144300"/>
            <a:ext cx="25273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단/</a:t>
            </a: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이변량</a:t>
            </a:r>
            <a:r>
              <a:rPr lang="en-US" sz="288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3b980cf2294_8_56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887200" y="11112500"/>
            <a:ext cx="6350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b980cf2294_8_56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7335500" y="11112500"/>
            <a:ext cx="6350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b980cf2294_8_5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50000" y="11010900"/>
            <a:ext cx="25781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b980cf2294_8_568"/>
          <p:cNvSpPr txBox="1"/>
          <p:nvPr/>
        </p:nvSpPr>
        <p:spPr>
          <a:xfrm>
            <a:off x="19022359" y="11144300"/>
            <a:ext cx="2578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대립가설</a:t>
            </a:r>
            <a:r>
              <a:rPr lang="en-US" sz="288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86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채택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b980cf2294_8_5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83550" y="4502150"/>
            <a:ext cx="28702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b980cf2294_8_568"/>
          <p:cNvSpPr txBox="1"/>
          <p:nvPr/>
        </p:nvSpPr>
        <p:spPr>
          <a:xfrm>
            <a:off x="8299450" y="464185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단·이변량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3b980cf2294_8_5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404850" y="5511800"/>
            <a:ext cx="28702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b980cf2294_8_568"/>
          <p:cNvSpPr txBox="1"/>
          <p:nvPr/>
        </p:nvSpPr>
        <p:spPr>
          <a:xfrm>
            <a:off x="13470247" y="5667351"/>
            <a:ext cx="2822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유의확률(p-value)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g3b980cf2294_8_5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834100" y="4521200"/>
            <a:ext cx="28702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b980cf2294_8_568"/>
          <p:cNvSpPr txBox="1"/>
          <p:nvPr/>
        </p:nvSpPr>
        <p:spPr>
          <a:xfrm>
            <a:off x="19050000" y="46609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6"/>
              <a:buFont typeface="Arial"/>
              <a:buNone/>
            </a:pPr>
            <a:r>
              <a:rPr lang="en-US" sz="288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판단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458" name="Google Shape;45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9600" y="8915400"/>
            <a:ext cx="2061210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0"/>
          <p:cNvSpPr txBox="1"/>
          <p:nvPr/>
        </p:nvSpPr>
        <p:spPr>
          <a:xfrm>
            <a:off x="2300200" y="8807451"/>
            <a:ext cx="197709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 dirty="0">
                <a:solidFill>
                  <a:schemeClr val="dk1"/>
                </a:solidFill>
              </a:rPr>
              <a:t>H₀ (</a:t>
            </a:r>
            <a:r>
              <a:rPr lang="en-US" sz="3200" dirty="0" err="1">
                <a:solidFill>
                  <a:schemeClr val="dk1"/>
                </a:solidFill>
              </a:rPr>
              <a:t>귀무가설</a:t>
            </a:r>
            <a:r>
              <a:rPr lang="en-US" sz="3200" dirty="0">
                <a:solidFill>
                  <a:schemeClr val="dk1"/>
                </a:solidFill>
              </a:rPr>
              <a:t>): '</a:t>
            </a:r>
            <a:r>
              <a:rPr lang="en-US" sz="3200" dirty="0" err="1">
                <a:solidFill>
                  <a:schemeClr val="dk1"/>
                </a:solidFill>
              </a:rPr>
              <a:t>정상</a:t>
            </a:r>
            <a:r>
              <a:rPr lang="en-US" sz="3200" dirty="0">
                <a:solidFill>
                  <a:schemeClr val="dk1"/>
                </a:solidFill>
              </a:rPr>
              <a:t> BMI' </a:t>
            </a:r>
            <a:r>
              <a:rPr lang="en-US" sz="3200" dirty="0" err="1">
                <a:solidFill>
                  <a:schemeClr val="dk1"/>
                </a:solidFill>
              </a:rPr>
              <a:t>범위</a:t>
            </a:r>
            <a:r>
              <a:rPr lang="en-US" sz="3200" dirty="0">
                <a:solidFill>
                  <a:schemeClr val="dk1"/>
                </a:solidFill>
              </a:rPr>
              <a:t>(예: 18.5 ≤ BMI &lt; 25) </a:t>
            </a:r>
            <a:r>
              <a:rPr lang="en-US" sz="3200" dirty="0" err="1">
                <a:solidFill>
                  <a:schemeClr val="dk1"/>
                </a:solidFill>
              </a:rPr>
              <a:t>내의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흡연자와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비흡연자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그룹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간에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</a:p>
          <a:p>
            <a:pPr marL="254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sz="3200" dirty="0" err="1">
                <a:solidFill>
                  <a:schemeClr val="dk1"/>
                </a:solidFill>
              </a:rPr>
              <a:t>평균</a:t>
            </a:r>
            <a:r>
              <a:rPr lang="en-US" sz="3200" dirty="0">
                <a:solidFill>
                  <a:schemeClr val="dk1"/>
                </a:solidFill>
              </a:rPr>
              <a:t> '</a:t>
            </a:r>
            <a:r>
              <a:rPr lang="en-US" sz="3200" dirty="0" err="1">
                <a:solidFill>
                  <a:schemeClr val="dk1"/>
                </a:solidFill>
              </a:rPr>
              <a:t>중성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지방</a:t>
            </a:r>
            <a:r>
              <a:rPr lang="en-US" sz="3200" dirty="0">
                <a:solidFill>
                  <a:schemeClr val="dk1"/>
                </a:solidFill>
              </a:rPr>
              <a:t> / </a:t>
            </a:r>
            <a:r>
              <a:rPr lang="en-US" sz="3200" dirty="0" err="1">
                <a:solidFill>
                  <a:schemeClr val="dk1"/>
                </a:solidFill>
              </a:rPr>
              <a:t>고밀도지단백</a:t>
            </a:r>
            <a:r>
              <a:rPr lang="en-US" sz="3200" dirty="0">
                <a:solidFill>
                  <a:schemeClr val="dk1"/>
                </a:solidFill>
              </a:rPr>
              <a:t>(HDL) </a:t>
            </a:r>
            <a:r>
              <a:rPr lang="en-US" sz="3200" dirty="0" err="1">
                <a:solidFill>
                  <a:schemeClr val="dk1"/>
                </a:solidFill>
              </a:rPr>
              <a:t>비율'은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통계적으로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차이가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없다</a:t>
            </a:r>
            <a:r>
              <a:rPr lang="en-US" sz="3200" dirty="0">
                <a:solidFill>
                  <a:schemeClr val="dk1"/>
                </a:solidFill>
              </a:rPr>
              <a:t>.</a:t>
            </a:r>
            <a:br>
              <a:rPr lang="en-US" sz="3200" dirty="0">
                <a:solidFill>
                  <a:schemeClr val="dk1"/>
                </a:solidFill>
              </a:rPr>
            </a:br>
            <a:endParaRPr sz="3200" dirty="0">
              <a:solidFill>
                <a:schemeClr val="dk1"/>
              </a:solidFill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 dirty="0">
                <a:solidFill>
                  <a:schemeClr val="dk1"/>
                </a:solidFill>
              </a:rPr>
              <a:t>H₁ (</a:t>
            </a:r>
            <a:r>
              <a:rPr lang="en-US" sz="3200" dirty="0" err="1">
                <a:solidFill>
                  <a:schemeClr val="dk1"/>
                </a:solidFill>
              </a:rPr>
              <a:t>대립가설</a:t>
            </a:r>
            <a:r>
              <a:rPr lang="en-US" sz="3200" dirty="0">
                <a:solidFill>
                  <a:schemeClr val="dk1"/>
                </a:solidFill>
              </a:rPr>
              <a:t>): '</a:t>
            </a:r>
            <a:r>
              <a:rPr lang="en-US" sz="3200" dirty="0" err="1">
                <a:solidFill>
                  <a:schemeClr val="dk1"/>
                </a:solidFill>
              </a:rPr>
              <a:t>정상</a:t>
            </a:r>
            <a:r>
              <a:rPr lang="en-US" sz="3200" dirty="0">
                <a:solidFill>
                  <a:schemeClr val="dk1"/>
                </a:solidFill>
              </a:rPr>
              <a:t> BMI' </a:t>
            </a:r>
            <a:r>
              <a:rPr lang="en-US" sz="3200" dirty="0" err="1">
                <a:solidFill>
                  <a:schemeClr val="dk1"/>
                </a:solidFill>
              </a:rPr>
              <a:t>범위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내의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흡연자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그룹은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비흡연자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그룹에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비해</a:t>
            </a:r>
            <a:endParaRPr lang="en-US" sz="3200" dirty="0">
              <a:solidFill>
                <a:schemeClr val="dk1"/>
              </a:solidFill>
            </a:endParaRPr>
          </a:p>
          <a:p>
            <a:pPr marL="254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sz="3200" dirty="0" err="1">
                <a:solidFill>
                  <a:schemeClr val="dk1"/>
                </a:solidFill>
              </a:rPr>
              <a:t>평균</a:t>
            </a:r>
            <a:r>
              <a:rPr lang="en-US" sz="3200" dirty="0">
                <a:solidFill>
                  <a:schemeClr val="dk1"/>
                </a:solidFill>
              </a:rPr>
              <a:t> '</a:t>
            </a:r>
            <a:r>
              <a:rPr lang="en-US" sz="3200" dirty="0" err="1">
                <a:solidFill>
                  <a:schemeClr val="dk1"/>
                </a:solidFill>
              </a:rPr>
              <a:t>중성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지방</a:t>
            </a:r>
            <a:r>
              <a:rPr lang="en-US" sz="3200" dirty="0">
                <a:solidFill>
                  <a:schemeClr val="dk1"/>
                </a:solidFill>
              </a:rPr>
              <a:t> / </a:t>
            </a:r>
            <a:r>
              <a:rPr lang="en-US" sz="3200" dirty="0" err="1">
                <a:solidFill>
                  <a:schemeClr val="dk1"/>
                </a:solidFill>
              </a:rPr>
              <a:t>고밀도지단백</a:t>
            </a:r>
            <a:r>
              <a:rPr lang="en-US" sz="3200" dirty="0">
                <a:solidFill>
                  <a:schemeClr val="dk1"/>
                </a:solidFill>
              </a:rPr>
              <a:t>(HDL) </a:t>
            </a:r>
            <a:r>
              <a:rPr lang="en-US" sz="3200" dirty="0" err="1">
                <a:solidFill>
                  <a:schemeClr val="dk1"/>
                </a:solidFill>
              </a:rPr>
              <a:t>비율'이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유의미하게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높을</a:t>
            </a: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dirty="0" err="1">
                <a:solidFill>
                  <a:schemeClr val="dk1"/>
                </a:solidFill>
              </a:rPr>
              <a:t>것이다</a:t>
            </a:r>
            <a:r>
              <a:rPr lang="en-US" sz="3200" dirty="0">
                <a:solidFill>
                  <a:schemeClr val="dk1"/>
                </a:solidFill>
              </a:rPr>
              <a:t>.</a:t>
            </a:r>
            <a:endParaRPr sz="32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94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endParaRPr sz="2666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4572000" y="2865664"/>
            <a:ext cx="160274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23"/>
              <a:buFont typeface="Arial"/>
              <a:buNone/>
            </a:pPr>
            <a:r>
              <a:rPr lang="en-US" sz="892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1.</a:t>
            </a:r>
            <a:r>
              <a:rPr lang="en-US" sz="9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정상 BMI' 범위 내에서 흡연여부와 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(중성 지방 / HDL 비율)의 상관관계</a:t>
            </a: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23"/>
              <a:buFont typeface="Arial"/>
              <a:buNone/>
            </a:pP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87150" y="1455964"/>
            <a:ext cx="1397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0"/>
          <p:cNvSpPr txBox="1"/>
          <p:nvPr/>
        </p:nvSpPr>
        <p:spPr>
          <a:xfrm>
            <a:off x="6210300" y="7247164"/>
            <a:ext cx="1201420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2"/>
              <a:buFont typeface="Arial"/>
              <a:buNone/>
            </a:pPr>
            <a:r>
              <a:rPr lang="en-US" sz="466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g3b9929cf599_1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b9929cf599_1_1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503" name="Google Shape;503;g3b9929cf599_1_1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b9929cf599_1_126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수준별 </a:t>
            </a:r>
            <a:r>
              <a:rPr lang="en-US" sz="4799">
                <a:latin typeface="Calibri"/>
                <a:ea typeface="Calibri"/>
                <a:cs typeface="Calibri"/>
                <a:sym typeface="Calibri"/>
              </a:rPr>
              <a:t>흡연 여부에 따른 TG/HDL 비율 분포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g3b9929cf599_1_1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b9929cf599_1_126"/>
          <p:cNvSpPr txBox="1"/>
          <p:nvPr/>
        </p:nvSpPr>
        <p:spPr>
          <a:xfrm>
            <a:off x="3101788" y="3435300"/>
            <a:ext cx="17523012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수준별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여부에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따른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TG/HDL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비율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분포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-KR" alt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막대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그래프</a:t>
            </a:r>
            <a:endParaRPr sz="373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g3b9929cf599_1_1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b9929cf599_1_126"/>
          <p:cNvSpPr txBox="1"/>
          <p:nvPr/>
        </p:nvSpPr>
        <p:spPr>
          <a:xfrm>
            <a:off x="17929412" y="7097650"/>
            <a:ext cx="4837388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7"/>
              <a:buFont typeface="Arial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97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g3b9929cf599_1_1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16425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b9929cf599_1_126"/>
          <p:cNvSpPr txBox="1"/>
          <p:nvPr/>
        </p:nvSpPr>
        <p:spPr>
          <a:xfrm>
            <a:off x="19196050" y="62912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g3b9929cf599_1_1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3b9929cf599_1_1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b9929cf599_1_1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" name="그림 2" descr="텍스트, 도표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D09E12-2714-3CBF-0390-079E8B9636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600" y="4597400"/>
            <a:ext cx="10439400" cy="72723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>
          <a:extLst>
            <a:ext uri="{FF2B5EF4-FFF2-40B4-BE49-F238E27FC236}">
              <a16:creationId xmlns:a16="http://schemas.microsoft.com/office/drawing/2014/main" id="{8BCE3F0A-AA4C-27F6-B084-26BE80EA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g3b9929cf599_1_126">
            <a:extLst>
              <a:ext uri="{FF2B5EF4-FFF2-40B4-BE49-F238E27FC236}">
                <a16:creationId xmlns:a16="http://schemas.microsoft.com/office/drawing/2014/main" id="{97276FE8-B277-12D7-F47D-60A3464E68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b9929cf599_1_126">
            <a:extLst>
              <a:ext uri="{FF2B5EF4-FFF2-40B4-BE49-F238E27FC236}">
                <a16:creationId xmlns:a16="http://schemas.microsoft.com/office/drawing/2014/main" id="{B9663F75-2986-5D8B-C00D-CE93B9A068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503" name="Google Shape;503;g3b9929cf599_1_126">
            <a:extLst>
              <a:ext uri="{FF2B5EF4-FFF2-40B4-BE49-F238E27FC236}">
                <a16:creationId xmlns:a16="http://schemas.microsoft.com/office/drawing/2014/main" id="{906F6682-845F-2E78-049A-1CF58498C0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b9929cf599_1_126">
            <a:extLst>
              <a:ext uri="{FF2B5EF4-FFF2-40B4-BE49-F238E27FC236}">
                <a16:creationId xmlns:a16="http://schemas.microsoft.com/office/drawing/2014/main" id="{B293A372-0750-DE38-5BF8-352FF13CB025}"/>
              </a:ext>
            </a:extLst>
          </p:cNvPr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수준별 </a:t>
            </a:r>
            <a:r>
              <a:rPr lang="en-US" sz="4799">
                <a:latin typeface="Calibri"/>
                <a:ea typeface="Calibri"/>
                <a:cs typeface="Calibri"/>
                <a:sym typeface="Calibri"/>
              </a:rPr>
              <a:t>흡연 여부에 따른 TG/HDL 비율 분포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g3b9929cf599_1_126">
            <a:extLst>
              <a:ext uri="{FF2B5EF4-FFF2-40B4-BE49-F238E27FC236}">
                <a16:creationId xmlns:a16="http://schemas.microsoft.com/office/drawing/2014/main" id="{6EE422D1-79D1-032A-D924-1CA5E0B026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b9929cf599_1_126">
            <a:extLst>
              <a:ext uri="{FF2B5EF4-FFF2-40B4-BE49-F238E27FC236}">
                <a16:creationId xmlns:a16="http://schemas.microsoft.com/office/drawing/2014/main" id="{58A7E702-A09A-9136-C836-AE948DC536C9}"/>
              </a:ext>
            </a:extLst>
          </p:cNvPr>
          <p:cNvSpPr txBox="1"/>
          <p:nvPr/>
        </p:nvSpPr>
        <p:spPr>
          <a:xfrm>
            <a:off x="3101788" y="3435300"/>
            <a:ext cx="17523012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수준별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여부에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따른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TG/HDL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비율</a:t>
            </a:r>
            <a:r>
              <a:rPr 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분포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-KR" alt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바이올린 플롯</a:t>
            </a:r>
            <a:endParaRPr sz="373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g3b9929cf599_1_126">
            <a:extLst>
              <a:ext uri="{FF2B5EF4-FFF2-40B4-BE49-F238E27FC236}">
                <a16:creationId xmlns:a16="http://schemas.microsoft.com/office/drawing/2014/main" id="{3482E073-B31C-A7FC-3EA2-0B518CA1E2D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b9929cf599_1_126">
            <a:extLst>
              <a:ext uri="{FF2B5EF4-FFF2-40B4-BE49-F238E27FC236}">
                <a16:creationId xmlns:a16="http://schemas.microsoft.com/office/drawing/2014/main" id="{DE91CEE9-C545-4219-8DBB-391AF3525577}"/>
              </a:ext>
            </a:extLst>
          </p:cNvPr>
          <p:cNvSpPr txBox="1"/>
          <p:nvPr/>
        </p:nvSpPr>
        <p:spPr>
          <a:xfrm>
            <a:off x="17929412" y="7097650"/>
            <a:ext cx="4837388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7"/>
              <a:buFont typeface="Arial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97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g3b9929cf599_1_126">
            <a:extLst>
              <a:ext uri="{FF2B5EF4-FFF2-40B4-BE49-F238E27FC236}">
                <a16:creationId xmlns:a16="http://schemas.microsoft.com/office/drawing/2014/main" id="{FCC78359-33FA-C74F-8EC5-E5D14638F55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16425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b9929cf599_1_126">
            <a:extLst>
              <a:ext uri="{FF2B5EF4-FFF2-40B4-BE49-F238E27FC236}">
                <a16:creationId xmlns:a16="http://schemas.microsoft.com/office/drawing/2014/main" id="{42B215DE-EE05-636C-C509-B57939F9666B}"/>
              </a:ext>
            </a:extLst>
          </p:cNvPr>
          <p:cNvSpPr txBox="1"/>
          <p:nvPr/>
        </p:nvSpPr>
        <p:spPr>
          <a:xfrm>
            <a:off x="19196050" y="62912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g3b9929cf599_1_126">
            <a:extLst>
              <a:ext uri="{FF2B5EF4-FFF2-40B4-BE49-F238E27FC236}">
                <a16:creationId xmlns:a16="http://schemas.microsoft.com/office/drawing/2014/main" id="{E2E3EBB4-CD40-CDCF-A34D-5894E88B245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3b9929cf599_1_126">
            <a:extLst>
              <a:ext uri="{FF2B5EF4-FFF2-40B4-BE49-F238E27FC236}">
                <a16:creationId xmlns:a16="http://schemas.microsoft.com/office/drawing/2014/main" id="{C5670D1E-6643-E3A7-45F5-D4063057145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b9929cf599_1_126">
            <a:extLst>
              <a:ext uri="{FF2B5EF4-FFF2-40B4-BE49-F238E27FC236}">
                <a16:creationId xmlns:a16="http://schemas.microsoft.com/office/drawing/2014/main" id="{3D730D37-9FB2-DD5D-AF87-4F80A64AED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" name="그림 3" descr="도표, 그래프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162F0C-23A2-BED3-5A69-D5FF8E986A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85619" y="4813300"/>
            <a:ext cx="13640281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0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g3b9929cf599_1_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g3b9929cf599_1_1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539" name="Google Shape;539;g3b9929cf599_1_1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5950" y="4665675"/>
            <a:ext cx="20612099" cy="70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b9929cf599_1_192"/>
          <p:cNvSpPr txBox="1"/>
          <p:nvPr/>
        </p:nvSpPr>
        <p:spPr>
          <a:xfrm>
            <a:off x="2166800" y="5227188"/>
            <a:ext cx="18821400" cy="59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https://e-jnh.org/DOIx.php?id=10.4163/jnh.2019.52.3.268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한국 성인에서 중성지방/고밀도지단백콜레스테롤 비와 대사증후군 및 영양소 섭취와의 연관성: 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2016년 국민건강영양조사 자료를 이용하여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https://www.ekjm.org/upload/42830089.pdf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흡연이 혈청 HDL치에 미치는 영향에 관한 연구  충남대 외과대학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60세 이상 남성에서 흡연상태에 따른 대사증후군과 중성지방/HDL 콜레스테롤 비의 관련성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조 현 순천향대학교 부속 서울병원</a:t>
            </a: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6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b9929cf599_1_192"/>
          <p:cNvSpPr txBox="1"/>
          <p:nvPr/>
        </p:nvSpPr>
        <p:spPr>
          <a:xfrm>
            <a:off x="4178250" y="3078083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7600"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g3b9929cf599_1_19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93500" y="1300065"/>
            <a:ext cx="1397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g3b980cf2294_8_8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b980cf2294_8_8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549" name="Google Shape;549;g3b980cf2294_8_89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9600" y="8915400"/>
            <a:ext cx="20612099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b980cf2294_8_890"/>
          <p:cNvSpPr txBox="1"/>
          <p:nvPr/>
        </p:nvSpPr>
        <p:spPr>
          <a:xfrm>
            <a:off x="2781300" y="9613900"/>
            <a:ext cx="188214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6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이곳에서는 BMI 범주별로 흡연 여부에 따른 헤모글로빈 수치와 간 효소율의 관계를 분석합니다.</a:t>
            </a:r>
            <a:endParaRPr sz="306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en-US" sz="306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이를 통해 BMI 수준에 따라 흡연이 생체 지표에 미치는 영향이 달라지는지를 확인합니다.</a:t>
            </a:r>
            <a:endParaRPr sz="346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b980cf2294_8_890"/>
          <p:cNvSpPr txBox="1"/>
          <p:nvPr/>
        </p:nvSpPr>
        <p:spPr>
          <a:xfrm>
            <a:off x="4171950" y="3385458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23"/>
              <a:buFont typeface="Arial"/>
              <a:buNone/>
            </a:pPr>
            <a:r>
              <a:rPr lang="en-US" sz="892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2.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범주에 따른 </a:t>
            </a: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 여부와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헤모글로빈 수치  및 간 효소율 상관관계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23"/>
              <a:buFont typeface="Arial"/>
              <a:buNone/>
            </a:pPr>
            <a:r>
              <a:rPr lang="en-US" sz="892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g3b980cf2294_8_89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55400" y="1576615"/>
            <a:ext cx="1397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b980cf2294_8_890"/>
          <p:cNvSpPr txBox="1"/>
          <p:nvPr/>
        </p:nvSpPr>
        <p:spPr>
          <a:xfrm>
            <a:off x="6178550" y="7170058"/>
            <a:ext cx="120141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2"/>
              <a:buFont typeface="Arial"/>
              <a:buNone/>
            </a:pPr>
            <a:r>
              <a:rPr lang="en-US" sz="466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g3b980cf2294_8_9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b980cf2294_8_9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560" name="Google Shape;560;g3b980cf2294_8_9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2550" y="3721100"/>
            <a:ext cx="691775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b980cf2294_8_900"/>
          <p:cNvSpPr txBox="1"/>
          <p:nvPr/>
        </p:nvSpPr>
        <p:spPr>
          <a:xfrm>
            <a:off x="17259400" y="3975100"/>
            <a:ext cx="41655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g3b980cf2294_8_9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4650" y="3721100"/>
            <a:ext cx="691775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b980cf2294_8_900"/>
          <p:cNvSpPr txBox="1"/>
          <p:nvPr/>
        </p:nvSpPr>
        <p:spPr>
          <a:xfrm>
            <a:off x="9799925" y="3975100"/>
            <a:ext cx="4407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b980cf2294_8_900"/>
          <p:cNvSpPr txBox="1"/>
          <p:nvPr/>
        </p:nvSpPr>
        <p:spPr>
          <a:xfrm>
            <a:off x="1739900" y="1333500"/>
            <a:ext cx="186690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헤모글로빈 수치 단변량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5" name="Google Shape;565;g3b980cf2294_8_90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3b980cf2294_8_9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6100" y="3721100"/>
            <a:ext cx="638810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b980cf2294_8_900"/>
          <p:cNvSpPr txBox="1"/>
          <p:nvPr/>
        </p:nvSpPr>
        <p:spPr>
          <a:xfrm>
            <a:off x="3187700" y="3975100"/>
            <a:ext cx="36576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b980cf2294_8_900"/>
          <p:cNvSpPr txBox="1"/>
          <p:nvPr/>
        </p:nvSpPr>
        <p:spPr>
          <a:xfrm>
            <a:off x="2197100" y="4944585"/>
            <a:ext cx="5613300" cy="17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흡연자가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비흡연자에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비해</a:t>
            </a:r>
            <a:endParaRPr sz="3333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헤모글로빈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수치가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오른쪽으로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이동한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형태임</a:t>
            </a:r>
            <a:endParaRPr sz="3333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g3b980cf2294_8_90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3b980cf2294_8_90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3b980cf2294_8_90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7100" y="7454900"/>
            <a:ext cx="24193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b980cf2294_8_90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45400" y="7426325"/>
            <a:ext cx="24003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g3b980cf2294_8_900"/>
          <p:cNvSpPr txBox="1"/>
          <p:nvPr/>
        </p:nvSpPr>
        <p:spPr>
          <a:xfrm>
            <a:off x="2197200" y="6706150"/>
            <a:ext cx="27567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☺️ 비흡연자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b980cf2294_8_900"/>
          <p:cNvSpPr txBox="1"/>
          <p:nvPr/>
        </p:nvSpPr>
        <p:spPr>
          <a:xfrm>
            <a:off x="5335925" y="6706150"/>
            <a:ext cx="27567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🚬  흡연자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g3b980cf2294_8_9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g3b980cf2294_8_9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4117"/>
              </a:srgbClr>
            </a:outerShdw>
          </a:effectLst>
        </p:spPr>
      </p:pic>
      <p:pic>
        <p:nvPicPr>
          <p:cNvPr id="583" name="Google Shape;583;g3b980cf2294_8_9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2550" y="3721100"/>
            <a:ext cx="6917750" cy="83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g3b980cf2294_8_9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4650" y="3721100"/>
            <a:ext cx="691775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b980cf2294_8_922"/>
          <p:cNvSpPr txBox="1"/>
          <p:nvPr/>
        </p:nvSpPr>
        <p:spPr>
          <a:xfrm>
            <a:off x="1739900" y="1333500"/>
            <a:ext cx="186690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 효소율 단변량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g3b980cf2294_8_9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b980cf2294_8_9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6100" y="3721100"/>
            <a:ext cx="638810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b980cf2294_8_922"/>
          <p:cNvSpPr txBox="1"/>
          <p:nvPr/>
        </p:nvSpPr>
        <p:spPr>
          <a:xfrm>
            <a:off x="2197200" y="4951450"/>
            <a:ext cx="5613300" cy="168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흡연자가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비흡연자에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비해</a:t>
            </a:r>
            <a:endParaRPr sz="3333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효소율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수치가</a:t>
            </a:r>
            <a:endParaRPr sz="3333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왼쪽으로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이동한</a:t>
            </a:r>
            <a:r>
              <a:rPr lang="en-US" sz="3333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333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형태임</a:t>
            </a:r>
            <a:endParaRPr sz="3333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g3b980cf2294_8_9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b980cf2294_8_9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b980cf2294_8_922"/>
          <p:cNvSpPr txBox="1"/>
          <p:nvPr/>
        </p:nvSpPr>
        <p:spPr>
          <a:xfrm>
            <a:off x="2197200" y="6706150"/>
            <a:ext cx="27567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☺️ 비흡연자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b980cf2294_8_922"/>
          <p:cNvSpPr txBox="1"/>
          <p:nvPr/>
        </p:nvSpPr>
        <p:spPr>
          <a:xfrm>
            <a:off x="5335925" y="6706150"/>
            <a:ext cx="27567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🚬  흡연자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g3b980cf2294_8_922"/>
          <p:cNvPicPr preferRelativeResize="0"/>
          <p:nvPr/>
        </p:nvPicPr>
        <p:blipFill rotWithShape="1">
          <a:blip r:embed="rId9">
            <a:alphaModFix/>
          </a:blip>
          <a:srcRect t="8079"/>
          <a:stretch/>
        </p:blipFill>
        <p:spPr>
          <a:xfrm>
            <a:off x="2027025" y="7395500"/>
            <a:ext cx="275670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b980cf2294_8_922"/>
          <p:cNvPicPr preferRelativeResize="0"/>
          <p:nvPr/>
        </p:nvPicPr>
        <p:blipFill rotWithShape="1">
          <a:blip r:embed="rId10">
            <a:alphaModFix/>
          </a:blip>
          <a:srcRect t="16659"/>
          <a:stretch/>
        </p:blipFill>
        <p:spPr>
          <a:xfrm>
            <a:off x="5185725" y="7395500"/>
            <a:ext cx="275670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61;g3b980cf2294_8_900">
            <a:extLst>
              <a:ext uri="{FF2B5EF4-FFF2-40B4-BE49-F238E27FC236}">
                <a16:creationId xmlns:a16="http://schemas.microsoft.com/office/drawing/2014/main" id="{C7E265BC-65CB-990E-14BF-3FD097F9EF12}"/>
              </a:ext>
            </a:extLst>
          </p:cNvPr>
          <p:cNvSpPr txBox="1"/>
          <p:nvPr/>
        </p:nvSpPr>
        <p:spPr>
          <a:xfrm>
            <a:off x="17259400" y="3975100"/>
            <a:ext cx="41655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63;g3b980cf2294_8_900">
            <a:extLst>
              <a:ext uri="{FF2B5EF4-FFF2-40B4-BE49-F238E27FC236}">
                <a16:creationId xmlns:a16="http://schemas.microsoft.com/office/drawing/2014/main" id="{3B53707A-BF6F-989C-57D6-C8721024F525}"/>
              </a:ext>
            </a:extLst>
          </p:cNvPr>
          <p:cNvSpPr txBox="1"/>
          <p:nvPr/>
        </p:nvSpPr>
        <p:spPr>
          <a:xfrm>
            <a:off x="9799925" y="3975100"/>
            <a:ext cx="4407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67;g3b980cf2294_8_900">
            <a:extLst>
              <a:ext uri="{FF2B5EF4-FFF2-40B4-BE49-F238E27FC236}">
                <a16:creationId xmlns:a16="http://schemas.microsoft.com/office/drawing/2014/main" id="{7B9DD03E-A5D8-7D00-27BC-FCC6E50A637D}"/>
              </a:ext>
            </a:extLst>
          </p:cNvPr>
          <p:cNvSpPr txBox="1"/>
          <p:nvPr/>
        </p:nvSpPr>
        <p:spPr>
          <a:xfrm>
            <a:off x="3187700" y="3975100"/>
            <a:ext cx="36576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925" rIns="0" bIns="3892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altLang="en-US" sz="3066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>
          <a:extLst>
            <a:ext uri="{FF2B5EF4-FFF2-40B4-BE49-F238E27FC236}">
              <a16:creationId xmlns:a16="http://schemas.microsoft.com/office/drawing/2014/main" id="{BEE5BFD4-3622-65FC-8915-4FFA1C93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g3b980cf2294_8_1008">
            <a:extLst>
              <a:ext uri="{FF2B5EF4-FFF2-40B4-BE49-F238E27FC236}">
                <a16:creationId xmlns:a16="http://schemas.microsoft.com/office/drawing/2014/main" id="{F8019D1B-FC71-3CCF-6ECE-1A562E1338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b980cf2294_8_1008">
            <a:extLst>
              <a:ext uri="{FF2B5EF4-FFF2-40B4-BE49-F238E27FC236}">
                <a16:creationId xmlns:a16="http://schemas.microsoft.com/office/drawing/2014/main" id="{8683BB37-F35D-5430-09BA-DBD9CFA6B7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674" name="Google Shape;674;g3b980cf2294_8_1008">
            <a:extLst>
              <a:ext uri="{FF2B5EF4-FFF2-40B4-BE49-F238E27FC236}">
                <a16:creationId xmlns:a16="http://schemas.microsoft.com/office/drawing/2014/main" id="{2C31736E-E6F4-302C-2F92-46CB843E52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g3b980cf2294_8_1008">
            <a:extLst>
              <a:ext uri="{FF2B5EF4-FFF2-40B4-BE49-F238E27FC236}">
                <a16:creationId xmlns:a16="http://schemas.microsoft.com/office/drawing/2014/main" id="{7656FC30-A126-6FA8-530B-9119F4071A3C}"/>
              </a:ext>
            </a:extLst>
          </p:cNvPr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수준별 Hemoglobin/Liver Enzyme 비율 분포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g3b980cf2294_8_1008">
            <a:extLst>
              <a:ext uri="{FF2B5EF4-FFF2-40B4-BE49-F238E27FC236}">
                <a16:creationId xmlns:a16="http://schemas.microsoft.com/office/drawing/2014/main" id="{D263A5CB-6E9E-8071-64A6-9E0666104FF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3b980cf2294_8_1008">
            <a:extLst>
              <a:ext uri="{FF2B5EF4-FFF2-40B4-BE49-F238E27FC236}">
                <a16:creationId xmlns:a16="http://schemas.microsoft.com/office/drawing/2014/main" id="{E0C0369D-C9B3-52CE-23F2-62FC4716246B}"/>
              </a:ext>
            </a:extLst>
          </p:cNvPr>
          <p:cNvSpPr txBox="1"/>
          <p:nvPr/>
        </p:nvSpPr>
        <p:spPr>
          <a:xfrm>
            <a:off x="3457388" y="3424473"/>
            <a:ext cx="17469224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수준별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Hemoglobin/Liver Enzyme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비율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분포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ko-KR" altLang="en-US" sz="479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막대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그래프</a:t>
            </a:r>
            <a:endParaRPr sz="373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g3b980cf2294_8_1008">
            <a:extLst>
              <a:ext uri="{FF2B5EF4-FFF2-40B4-BE49-F238E27FC236}">
                <a16:creationId xmlns:a16="http://schemas.microsoft.com/office/drawing/2014/main" id="{D870E0F2-33D7-BD5B-D5AB-16E9DE54705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g3b980cf2294_8_1008">
            <a:extLst>
              <a:ext uri="{FF2B5EF4-FFF2-40B4-BE49-F238E27FC236}">
                <a16:creationId xmlns:a16="http://schemas.microsoft.com/office/drawing/2014/main" id="{06A4AF1F-6D5C-2CF3-E1BE-6D542C9756AB}"/>
              </a:ext>
            </a:extLst>
          </p:cNvPr>
          <p:cNvSpPr txBox="1"/>
          <p:nvPr/>
        </p:nvSpPr>
        <p:spPr>
          <a:xfrm>
            <a:off x="18063700" y="7404100"/>
            <a:ext cx="4703100" cy="3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1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7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g3b980cf2294_8_1008">
            <a:extLst>
              <a:ext uri="{FF2B5EF4-FFF2-40B4-BE49-F238E27FC236}">
                <a16:creationId xmlns:a16="http://schemas.microsoft.com/office/drawing/2014/main" id="{A86C62C7-60C8-EDCB-5CE2-40E14E2D09C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61670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g3b980cf2294_8_1008">
            <a:extLst>
              <a:ext uri="{FF2B5EF4-FFF2-40B4-BE49-F238E27FC236}">
                <a16:creationId xmlns:a16="http://schemas.microsoft.com/office/drawing/2014/main" id="{3D516AD0-229B-43A3-B14C-5DB8DA1A6472}"/>
              </a:ext>
            </a:extLst>
          </p:cNvPr>
          <p:cNvSpPr txBox="1"/>
          <p:nvPr/>
        </p:nvSpPr>
        <p:spPr>
          <a:xfrm>
            <a:off x="19240500" y="675640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2" name="Google Shape;682;g3b980cf2294_8_1008">
            <a:extLst>
              <a:ext uri="{FF2B5EF4-FFF2-40B4-BE49-F238E27FC236}">
                <a16:creationId xmlns:a16="http://schemas.microsoft.com/office/drawing/2014/main" id="{81E0D555-A59B-5A99-4372-EA3F1E54FEC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b980cf2294_8_1008">
            <a:extLst>
              <a:ext uri="{FF2B5EF4-FFF2-40B4-BE49-F238E27FC236}">
                <a16:creationId xmlns:a16="http://schemas.microsoft.com/office/drawing/2014/main" id="{97C20227-5DE0-03AB-0383-538F6F7DC9F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b980cf2294_8_1008">
            <a:extLst>
              <a:ext uri="{FF2B5EF4-FFF2-40B4-BE49-F238E27FC236}">
                <a16:creationId xmlns:a16="http://schemas.microsoft.com/office/drawing/2014/main" id="{80BFD7E1-D9BE-B5C6-B793-8941E78F1D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591D4D-597D-7073-8857-9DE80C76C7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588" y="4470400"/>
            <a:ext cx="10436412" cy="727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25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g3b980cf2294_8_10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b980cf2294_8_10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674" name="Google Shape;674;g3b980cf2294_8_10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g3b980cf2294_8_1008"/>
          <p:cNvSpPr txBox="1"/>
          <p:nvPr/>
        </p:nvSpPr>
        <p:spPr>
          <a:xfrm>
            <a:off x="1739900" y="1333500"/>
            <a:ext cx="155322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수준별 Hemoglobin/Liver Enzyme 비율 분포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g3b980cf2294_8_10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499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3b980cf2294_8_1008"/>
          <p:cNvSpPr txBox="1"/>
          <p:nvPr/>
        </p:nvSpPr>
        <p:spPr>
          <a:xfrm>
            <a:off x="3457388" y="3424473"/>
            <a:ext cx="17469224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수준별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Hemoglobin/Liver Enzyme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비율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분포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바이올린</a:t>
            </a:r>
            <a:r>
              <a:rPr lang="en-US" sz="479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79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그래프</a:t>
            </a:r>
            <a:endParaRPr sz="373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g3b980cf2294_8_100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3b980cf2294_8_100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61670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g3b980cf2294_8_1008"/>
          <p:cNvSpPr txBox="1"/>
          <p:nvPr/>
        </p:nvSpPr>
        <p:spPr>
          <a:xfrm>
            <a:off x="19240500" y="675640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2" name="Google Shape;682;g3b980cf2294_8_100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b980cf2294_8_100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9;g3b980cf2294_8_1008">
            <a:extLst>
              <a:ext uri="{FF2B5EF4-FFF2-40B4-BE49-F238E27FC236}">
                <a16:creationId xmlns:a16="http://schemas.microsoft.com/office/drawing/2014/main" id="{9B9CA814-3A92-3DEF-47B3-09A304E87F24}"/>
              </a:ext>
            </a:extLst>
          </p:cNvPr>
          <p:cNvSpPr txBox="1"/>
          <p:nvPr/>
        </p:nvSpPr>
        <p:spPr>
          <a:xfrm>
            <a:off x="18063700" y="7404100"/>
            <a:ext cx="4703100" cy="3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1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7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수정 필요</a:t>
            </a:r>
            <a:endParaRPr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그림 5" descr="도표, 그래프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5E1372-CFEA-B1EB-5128-3489021EED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0753" y="4719773"/>
            <a:ext cx="13341946" cy="660862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g3b9929cf599_1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b9929cf599_1_2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693" name="Google Shape;693;g3b9929cf599_1_2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5950" y="4665675"/>
            <a:ext cx="20612099" cy="70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b9929cf599_1_210"/>
          <p:cNvSpPr txBox="1"/>
          <p:nvPr/>
        </p:nvSpPr>
        <p:spPr>
          <a:xfrm>
            <a:off x="2166800" y="5227188"/>
            <a:ext cx="18821400" cy="59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https://pmc.ncbi.nlm.nih.gov/articles/PMC5511531/#:~:text=Results:%20The%20smokers%20had%20significantly%20higher%20levels,in%20males%20in%20comparison%20to%20female%20smokers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건강한 인구 집단에서 흡연이 혈액학적 매개변수에 미치는 영향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The Effect Of Smoking On Liver Enzymes And Its Functions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흡연이 간 효소 및 기능에 미치는 영향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6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b9929cf599_1_210"/>
          <p:cNvSpPr txBox="1"/>
          <p:nvPr/>
        </p:nvSpPr>
        <p:spPr>
          <a:xfrm>
            <a:off x="4178250" y="3078083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7600"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g3b9929cf599_1_2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93500" y="1300065"/>
            <a:ext cx="1397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703" name="Google Shape;703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9600" y="8915400"/>
            <a:ext cx="2061210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30"/>
          <p:cNvSpPr txBox="1"/>
          <p:nvPr/>
        </p:nvSpPr>
        <p:spPr>
          <a:xfrm>
            <a:off x="2162500" y="8915500"/>
            <a:ext cx="20329200" cy="30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08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●"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H₀ (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귀무가설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정상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BMI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(예: 18.5 ≤ BMI &lt; 25)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내의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흡연자와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비흡연자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그룹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간에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6350" marR="0" lvl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혈청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크레아틴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수치는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통계적으로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차이가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없다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endParaRPr sz="3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08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●"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H₁ (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대립가설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정상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BMI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내의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흡연자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그룹은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비흡연자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그룹에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비해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6350" marR="0" lvl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혈청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크레아틴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수치가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유의미하게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높을</a:t>
            </a:r>
            <a:r>
              <a:rPr lang="en-US" sz="3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것이다</a:t>
            </a:r>
            <a:endParaRPr sz="3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endParaRPr sz="3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0"/>
          <p:cNvSpPr txBox="1"/>
          <p:nvPr/>
        </p:nvSpPr>
        <p:spPr>
          <a:xfrm>
            <a:off x="4178300" y="3118757"/>
            <a:ext cx="160274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23"/>
              <a:buFont typeface="Arial"/>
              <a:buNone/>
            </a:pPr>
            <a:r>
              <a:rPr lang="en-US" sz="892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가설 3.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정상 BMI' 범위 내에서 흡연여부와 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나이 및 혈청 크레아티닌의 상관관계</a:t>
            </a:r>
            <a:r>
              <a:rPr lang="en-US" sz="892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6" name="Google Shape;706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93500" y="1340757"/>
            <a:ext cx="1397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0"/>
          <p:cNvSpPr txBox="1"/>
          <p:nvPr/>
        </p:nvSpPr>
        <p:spPr>
          <a:xfrm>
            <a:off x="6184900" y="7449457"/>
            <a:ext cx="1201420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2"/>
              <a:buFont typeface="Arial"/>
              <a:buNone/>
            </a:pPr>
            <a:r>
              <a:rPr lang="en-US" sz="466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C109C7BA-68D1-AEB3-C184-1C18AD30D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34">
            <a:extLst>
              <a:ext uri="{FF2B5EF4-FFF2-40B4-BE49-F238E27FC236}">
                <a16:creationId xmlns:a16="http://schemas.microsoft.com/office/drawing/2014/main" id="{10EEAE56-C06B-EFF1-3139-3FD9DDA2D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34">
            <a:extLst>
              <a:ext uri="{FF2B5EF4-FFF2-40B4-BE49-F238E27FC236}">
                <a16:creationId xmlns:a16="http://schemas.microsoft.com/office/drawing/2014/main" id="{2214A510-25D3-6445-A47D-A46B99B90B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772" name="Google Shape;772;p34">
            <a:extLst>
              <a:ext uri="{FF2B5EF4-FFF2-40B4-BE49-F238E27FC236}">
                <a16:creationId xmlns:a16="http://schemas.microsoft.com/office/drawing/2014/main" id="{0FD98F92-8270-5522-D8DC-EAB65F1CE1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4">
            <a:extLst>
              <a:ext uri="{FF2B5EF4-FFF2-40B4-BE49-F238E27FC236}">
                <a16:creationId xmlns:a16="http://schemas.microsoft.com/office/drawing/2014/main" id="{9229780E-43ED-03D1-128F-D541E583DAC1}"/>
              </a:ext>
            </a:extLst>
          </p:cNvPr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이변량 분석</a:t>
            </a:r>
            <a:endParaRPr sz="6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34">
            <a:extLst>
              <a:ext uri="{FF2B5EF4-FFF2-40B4-BE49-F238E27FC236}">
                <a16:creationId xmlns:a16="http://schemas.microsoft.com/office/drawing/2014/main" id="{FD709A66-F05A-53F8-CE77-FB27416CBB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5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4">
            <a:extLst>
              <a:ext uri="{FF2B5EF4-FFF2-40B4-BE49-F238E27FC236}">
                <a16:creationId xmlns:a16="http://schemas.microsoft.com/office/drawing/2014/main" id="{4A2D4C5A-8A2F-E0AE-2687-CCC392EECB4D}"/>
              </a:ext>
            </a:extLst>
          </p:cNvPr>
          <p:cNvSpPr txBox="1"/>
          <p:nvPr/>
        </p:nvSpPr>
        <p:spPr>
          <a:xfrm>
            <a:off x="3860800" y="3479800"/>
            <a:ext cx="16764000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 여부 및 연령대별 혈청 크레아티닌 수치 분포</a:t>
            </a:r>
            <a:endParaRPr sz="4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7" name="Google Shape;777;p34">
            <a:extLst>
              <a:ext uri="{FF2B5EF4-FFF2-40B4-BE49-F238E27FC236}">
                <a16:creationId xmlns:a16="http://schemas.microsoft.com/office/drawing/2014/main" id="{F0B9A99E-5BB5-FAF2-DF24-A0DD9063FC5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34">
            <a:extLst>
              <a:ext uri="{FF2B5EF4-FFF2-40B4-BE49-F238E27FC236}">
                <a16:creationId xmlns:a16="http://schemas.microsoft.com/office/drawing/2014/main" id="{C1057488-2BEF-B305-326A-72CC567B7D5E}"/>
              </a:ext>
            </a:extLst>
          </p:cNvPr>
          <p:cNvSpPr txBox="1"/>
          <p:nvPr/>
        </p:nvSpPr>
        <p:spPr>
          <a:xfrm>
            <a:off x="17899750" y="7548400"/>
            <a:ext cx="4899600" cy="3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ko-KR" altLang="en-US" sz="2000" dirty="0">
                <a:solidFill>
                  <a:srgbClr val="FF0000"/>
                </a:solidFill>
              </a:rPr>
              <a:t>수정 필요</a:t>
            </a:r>
            <a:endParaRPr sz="20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34">
            <a:extLst>
              <a:ext uri="{FF2B5EF4-FFF2-40B4-BE49-F238E27FC236}">
                <a16:creationId xmlns:a16="http://schemas.microsoft.com/office/drawing/2014/main" id="{613D4AE2-8B46-D79E-5E7E-5FA3925CE8A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61670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4">
            <a:extLst>
              <a:ext uri="{FF2B5EF4-FFF2-40B4-BE49-F238E27FC236}">
                <a16:creationId xmlns:a16="http://schemas.microsoft.com/office/drawing/2014/main" id="{F2BAB75F-2154-16CD-E2D0-9E5B8E451938}"/>
              </a:ext>
            </a:extLst>
          </p:cNvPr>
          <p:cNvSpPr txBox="1"/>
          <p:nvPr/>
        </p:nvSpPr>
        <p:spPr>
          <a:xfrm>
            <a:off x="19240500" y="675640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1" name="Google Shape;781;p34">
            <a:extLst>
              <a:ext uri="{FF2B5EF4-FFF2-40B4-BE49-F238E27FC236}">
                <a16:creationId xmlns:a16="http://schemas.microsoft.com/office/drawing/2014/main" id="{E548D0C9-7011-4C21-CAAB-AC01B619036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34">
            <a:extLst>
              <a:ext uri="{FF2B5EF4-FFF2-40B4-BE49-F238E27FC236}">
                <a16:creationId xmlns:a16="http://schemas.microsoft.com/office/drawing/2014/main" id="{0C025996-775D-DA94-BC7A-B060091AFDF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F862D8-8277-57EF-5579-433ACE132B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4597400"/>
            <a:ext cx="10185400" cy="709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2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772" name="Google Shape;77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8000" y="3213100"/>
            <a:ext cx="20929599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4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609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이변량 분석</a:t>
            </a:r>
            <a:endParaRPr sz="6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90800"/>
            <a:ext cx="226695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4"/>
          <p:cNvSpPr txBox="1"/>
          <p:nvPr/>
        </p:nvSpPr>
        <p:spPr>
          <a:xfrm>
            <a:off x="3860800" y="3479800"/>
            <a:ext cx="16764000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350" rIns="0" bIns="4735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흡연 여부 및 연령대별 혈청 크레아티닌 수치 분포</a:t>
            </a:r>
            <a:endParaRPr sz="4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7" name="Google Shape;777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60900" y="5803900"/>
            <a:ext cx="5549900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34"/>
          <p:cNvSpPr txBox="1"/>
          <p:nvPr/>
        </p:nvSpPr>
        <p:spPr>
          <a:xfrm>
            <a:off x="17899750" y="7548400"/>
            <a:ext cx="4899600" cy="3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ko-KR" altLang="en-US" sz="2000" dirty="0">
                <a:solidFill>
                  <a:srgbClr val="FF0000"/>
                </a:solidFill>
              </a:rPr>
              <a:t>수정 필요</a:t>
            </a:r>
            <a:endParaRPr sz="20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24600" y="6616700"/>
            <a:ext cx="2781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4"/>
          <p:cNvSpPr txBox="1"/>
          <p:nvPr/>
        </p:nvSpPr>
        <p:spPr>
          <a:xfrm>
            <a:off x="19240500" y="675640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그래프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1" name="Google Shape;781;p3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20548600" y="1727200"/>
            <a:ext cx="18034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3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983700" y="1016000"/>
            <a:ext cx="10668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3816AB-D756-1019-2F37-F0B9F74B38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897" y="4711700"/>
            <a:ext cx="13460803" cy="6667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g3b9929cf599_1_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g3b9929cf599_1_2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810" name="Google Shape;810;g3b9929cf599_1_2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5950" y="4665675"/>
            <a:ext cx="20612099" cy="28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g3b9929cf599_1_219"/>
          <p:cNvSpPr txBox="1"/>
          <p:nvPr/>
        </p:nvSpPr>
        <p:spPr>
          <a:xfrm>
            <a:off x="2166800" y="5227188"/>
            <a:ext cx="18821400" cy="59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066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https://pmc.ncbi.nlm.nih.gov/articles/PMC9793780/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66">
                <a:latin typeface="Calibri"/>
                <a:ea typeface="Calibri"/>
                <a:cs typeface="Calibri"/>
                <a:sym typeface="Calibri"/>
              </a:rPr>
              <a:t>겉보기에 건강해 보이는 흡연자들의 신장 기능에 미치는 흡연의 영향</a:t>
            </a:r>
            <a:br>
              <a:rPr lang="en-US" sz="3066">
                <a:latin typeface="Calibri"/>
                <a:ea typeface="Calibri"/>
                <a:cs typeface="Calibri"/>
                <a:sym typeface="Calibri"/>
              </a:rPr>
            </a:br>
            <a:endParaRPr sz="3066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6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b9929cf599_1_219"/>
          <p:cNvSpPr txBox="1"/>
          <p:nvPr/>
        </p:nvSpPr>
        <p:spPr>
          <a:xfrm>
            <a:off x="4178250" y="3078083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7600"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89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g3b9929cf599_1_2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93500" y="1300065"/>
            <a:ext cx="1397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g3b9929cf599_1_2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g3b9929cf599_1_2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1" cy="12446001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30"/>
              </a:srgbClr>
            </a:outerShdw>
          </a:effectLst>
        </p:spPr>
      </p:pic>
      <p:pic>
        <p:nvPicPr>
          <p:cNvPr id="820" name="Google Shape;820;g3b9929cf599_1_2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5950" y="4222800"/>
            <a:ext cx="20612099" cy="85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3b9929cf599_1_235"/>
          <p:cNvSpPr txBox="1"/>
          <p:nvPr/>
        </p:nvSpPr>
        <p:spPr>
          <a:xfrm>
            <a:off x="2590800" y="4348890"/>
            <a:ext cx="19229294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6774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766"/>
              <a:buFont typeface="Calibri"/>
              <a:buChar char="-"/>
            </a:pP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이번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결과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흡연은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폐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건강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문제라는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일반적인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인식을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넘어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신체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전반의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주요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시스템에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광범위하고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복합적인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악영향을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미치는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강력한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위험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요인임이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재확인되었습니다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6774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766"/>
              <a:buFont typeface="Calibri"/>
              <a:buChar char="-"/>
            </a:pP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특히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BMI와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무관하게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대사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건강을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직접적으로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악화시켜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심혈관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질환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위험을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높이고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가설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1), 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6774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766"/>
              <a:buFont typeface="Calibri"/>
              <a:buChar char="-"/>
            </a:pP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간과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3200" dirty="0">
                <a:latin typeface="Calibri"/>
                <a:ea typeface="Calibri"/>
                <a:cs typeface="Calibri"/>
                <a:sym typeface="Calibri"/>
              </a:rPr>
              <a:t>심혈관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등 폐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이외도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주요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장기의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복합적인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합병증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발생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위험을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현저히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증가시키며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가설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2),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6774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766"/>
              <a:buFont typeface="Calibri"/>
              <a:buChar char="-"/>
            </a:pP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신장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기능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저하를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의미하며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노폐물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배설이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원활하지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않다는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신호이므로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신장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질환을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야기하는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등(</a:t>
            </a:r>
            <a:r>
              <a:rPr lang="ko-KR" altLang="en-US" sz="3200" dirty="0">
                <a:latin typeface="Calibri"/>
                <a:ea typeface="Calibri"/>
                <a:cs typeface="Calibri"/>
                <a:sym typeface="Calibri"/>
              </a:rPr>
              <a:t>가설 </a:t>
            </a:r>
            <a:r>
              <a:rPr lang="en-US" altLang="ko-KR" sz="3200" dirty="0">
                <a:latin typeface="Calibri"/>
                <a:ea typeface="Calibri"/>
                <a:cs typeface="Calibri"/>
                <a:sym typeface="Calibri"/>
              </a:rPr>
              <a:t>3)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3291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SzPts val="3066"/>
              <a:buFont typeface="Calibri"/>
              <a:buChar char="-"/>
            </a:pP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이러한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결과는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흡연이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겉으로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건강해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보이는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개인에게도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'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숨겨진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대사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위험'을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안겨주며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다발성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장기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손상의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'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시한폭탄'이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될 수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있음을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명확히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경고합니다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따라서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흡연은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단순한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기호의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문제를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넘어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개인과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공중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보건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전체에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걸쳐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전방위적인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관리가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필요해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보이며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강력하고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지속적인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금연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정책과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교육의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중요성이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  <a:sym typeface="Calibri"/>
              </a:rPr>
              <a:t>강조됩니다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400" dirty="0">
                <a:latin typeface="Calibri"/>
                <a:ea typeface="Calibri"/>
                <a:cs typeface="Calibri"/>
                <a:sym typeface="Calibri"/>
              </a:rPr>
            </a:b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b9929cf599_1_235"/>
          <p:cNvSpPr txBox="1"/>
          <p:nvPr/>
        </p:nvSpPr>
        <p:spPr>
          <a:xfrm>
            <a:off x="4178250" y="2635208"/>
            <a:ext cx="16027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5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 b="1" dirty="0" err="1">
                <a:solidFill>
                  <a:srgbClr val="292929"/>
                </a:solidFill>
              </a:rPr>
              <a:t>결론</a:t>
            </a:r>
            <a:r>
              <a:rPr lang="en-US" sz="8000" b="1" dirty="0">
                <a:solidFill>
                  <a:srgbClr val="292929"/>
                </a:solidFill>
              </a:rPr>
              <a:t> 및 </a:t>
            </a:r>
            <a:r>
              <a:rPr lang="en-US" sz="8000" b="1" dirty="0" err="1">
                <a:solidFill>
                  <a:srgbClr val="292929"/>
                </a:solidFill>
              </a:rPr>
              <a:t>인사이트</a:t>
            </a:r>
            <a:endParaRPr sz="8000" b="1" dirty="0">
              <a:solidFill>
                <a:srgbClr val="292929"/>
              </a:solidFill>
            </a:endParaRPr>
          </a:p>
          <a:p>
            <a:pPr marL="0" marR="0" lvl="0" indent="0" algn="ctr" rtl="0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76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3" name="Google Shape;823;g3b9929cf599_1_2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93500" y="957165"/>
            <a:ext cx="1397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739900" y="1333500"/>
            <a:ext cx="113919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799" b="1" dirty="0" err="1">
                <a:latin typeface="Calibri" panose="020F0502020204030204" pitchFamily="34" charset="0"/>
                <a:ea typeface="210 Gulim 090"/>
                <a:cs typeface="Calibri" panose="020F0502020204030204" pitchFamily="34" charset="0"/>
              </a:rPr>
              <a:t>팀원별</a:t>
            </a:r>
            <a:r>
              <a:rPr lang="ko-KR" altLang="en-US" sz="4799" b="1" dirty="0">
                <a:latin typeface="Calibri" panose="020F0502020204030204" pitchFamily="34" charset="0"/>
                <a:ea typeface="210 Gulim 090"/>
                <a:cs typeface="Calibri" panose="020F0502020204030204" pitchFamily="34" charset="0"/>
              </a:rPr>
              <a:t> 소감</a:t>
            </a:r>
            <a:endParaRPr lang="en-US" sz="4799" b="1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0548600" y="1727200"/>
            <a:ext cx="1803400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83700" y="1016000"/>
            <a:ext cx="10668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0112" y="3695700"/>
            <a:ext cx="10607488" cy="409537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408827" y="4942917"/>
            <a:ext cx="10074654" cy="229197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1800" b="1" i="0" dirty="0">
                <a:effectLst/>
                <a:latin typeface="gg sans"/>
              </a:rPr>
              <a:t>이번 프로젝트를 준비하면서 두 분께 무한한 감사를 드립니다</a:t>
            </a:r>
            <a:r>
              <a:rPr lang="en-US" altLang="ko-KR" sz="1800" b="1" i="0" dirty="0">
                <a:effectLst/>
                <a:latin typeface="gg sans"/>
              </a:rPr>
              <a:t>.</a:t>
            </a:r>
            <a:r>
              <a:rPr lang="ko-KR" altLang="en-US" sz="1800" b="1" i="0" dirty="0">
                <a:effectLst/>
                <a:latin typeface="gg sans"/>
              </a:rPr>
              <a:t> </a:t>
            </a:r>
            <a:endParaRPr lang="en-US" altLang="ko-KR" sz="1800" b="1" i="0" dirty="0">
              <a:effectLst/>
              <a:latin typeface="gg sans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800" b="1" i="0" dirty="0">
                <a:effectLst/>
                <a:latin typeface="gg sans"/>
              </a:rPr>
              <a:t>막히는 부분들이나 모르는 부분들에 대해서 가이드라인을 주시고</a:t>
            </a:r>
            <a:r>
              <a:rPr lang="en-US" altLang="ko-KR" sz="1800" b="1" i="0" dirty="0">
                <a:effectLst/>
                <a:latin typeface="gg sans"/>
              </a:rPr>
              <a:t>,</a:t>
            </a:r>
            <a:r>
              <a:rPr lang="ko-KR" altLang="en-US" sz="1800" b="1" i="0" dirty="0">
                <a:effectLst/>
                <a:latin typeface="gg sans"/>
              </a:rPr>
              <a:t> 어렵지 않은 역할을 분담해 주셔서 많이 주눅들지 않고 참여할 수 있었던 것 같습니다</a:t>
            </a:r>
            <a:r>
              <a:rPr lang="en-US" altLang="ko-KR" sz="1800" b="1" i="0" dirty="0">
                <a:effectLst/>
                <a:latin typeface="gg sans"/>
              </a:rPr>
              <a:t>.</a:t>
            </a:r>
            <a:r>
              <a:rPr lang="ko-KR" altLang="en-US" sz="1800" b="1" i="0" dirty="0">
                <a:effectLst/>
                <a:latin typeface="gg sans"/>
              </a:rPr>
              <a:t> </a:t>
            </a:r>
            <a:endParaRPr lang="en-US" altLang="ko-KR" sz="1800" b="1" i="0" dirty="0">
              <a:effectLst/>
              <a:latin typeface="gg sans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800" b="1" i="0" dirty="0">
                <a:effectLst/>
                <a:latin typeface="gg sans"/>
              </a:rPr>
              <a:t>두 분의 대화를 듣는 것만으로도 데이터 분석의 흐름이나 관점을 간접적으로 느끼며 </a:t>
            </a:r>
            <a:endParaRPr lang="en-US" altLang="ko-KR" sz="1800" b="1" i="0" dirty="0">
              <a:effectLst/>
              <a:latin typeface="gg sans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800" b="1" i="0" dirty="0">
                <a:effectLst/>
                <a:latin typeface="gg sans"/>
              </a:rPr>
              <a:t>많은 것을 공부할 수 있었던 시간이었습니다</a:t>
            </a:r>
            <a:r>
              <a:rPr lang="en-US" altLang="ko-KR" sz="1800" b="1" i="0" dirty="0">
                <a:effectLst/>
                <a:latin typeface="gg sans"/>
              </a:rPr>
              <a:t>.</a:t>
            </a:r>
            <a:r>
              <a:rPr lang="ko-KR" altLang="en-US" sz="1800" b="1" i="0" dirty="0">
                <a:effectLst/>
                <a:latin typeface="gg sans"/>
              </a:rPr>
              <a:t> </a:t>
            </a:r>
            <a:endParaRPr lang="en-US" altLang="ko-KR" sz="1800" b="1" i="0" dirty="0">
              <a:effectLst/>
              <a:latin typeface="gg sans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800" b="1" i="0" dirty="0">
                <a:effectLst/>
                <a:latin typeface="gg sans"/>
              </a:rPr>
              <a:t>프로젝트를 통해 개인적으로 부족한 부분들을 확인할 수 있었고</a:t>
            </a:r>
            <a:r>
              <a:rPr lang="en-US" altLang="ko-KR" sz="1800" b="1" i="0" dirty="0">
                <a:effectLst/>
                <a:latin typeface="gg sans"/>
              </a:rPr>
              <a:t>,</a:t>
            </a:r>
            <a:r>
              <a:rPr lang="ko-KR" altLang="en-US" sz="1800" b="1" i="0" dirty="0">
                <a:effectLst/>
                <a:latin typeface="gg sans"/>
              </a:rPr>
              <a:t> 이번 프로젝트 자료를 공부하며 앞으로의 역량을 더 키울 수 있도록 노력하겠습니다 감사드립니다</a:t>
            </a:r>
            <a:endParaRPr lang="en-US" sz="1800" b="1" i="0" u="none" strike="noStrike" dirty="0">
              <a:solidFill>
                <a:srgbClr val="000000"/>
              </a:solidFill>
              <a:ea typeface="210 Gulim 030"/>
              <a:cs typeface="210 Gulim 030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800" y="3695700"/>
            <a:ext cx="9550400" cy="8343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98912" y="5217463"/>
            <a:ext cx="8653182" cy="598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처음 데이터를 마주했을 때는 단순히 </a:t>
            </a:r>
            <a:r>
              <a:rPr lang="en-US" altLang="ko-KR" sz="1800" b="1" i="0" dirty="0">
                <a:effectLst/>
                <a:latin typeface="+mn-lt"/>
              </a:rPr>
              <a:t>'</a:t>
            </a:r>
            <a:r>
              <a:rPr lang="ko-KR" altLang="en-US" sz="1800" b="1" i="0" dirty="0">
                <a:effectLst/>
                <a:latin typeface="+mn-lt"/>
              </a:rPr>
              <a:t>흡연이 몸에 나쁘다</a:t>
            </a:r>
            <a:r>
              <a:rPr lang="en-US" altLang="ko-KR" sz="1800" b="1" i="0" dirty="0">
                <a:effectLst/>
                <a:latin typeface="+mn-lt"/>
              </a:rPr>
              <a:t>'</a:t>
            </a:r>
            <a:r>
              <a:rPr lang="ko-KR" altLang="en-US" sz="1800" b="1" i="0" dirty="0">
                <a:effectLst/>
                <a:latin typeface="+mn-lt"/>
              </a:rPr>
              <a:t>는 당연한 사실을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다시 한번 확인하는 과정일 거라 생각했습니다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하지만 실제 데이터를 전처리하고</a:t>
            </a:r>
            <a:r>
              <a:rPr lang="en-US" altLang="ko-KR" sz="1800" b="1" i="0" dirty="0">
                <a:effectLst/>
                <a:latin typeface="+mn-lt"/>
              </a:rPr>
              <a:t>, </a:t>
            </a:r>
            <a:r>
              <a:rPr lang="ko-KR" altLang="en-US" sz="1800" b="1" i="0" dirty="0">
                <a:effectLst/>
                <a:latin typeface="+mn-lt"/>
              </a:rPr>
              <a:t>통계적 유의성을 직접 검정해 보면서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중요한 사실을 </a:t>
            </a:r>
            <a:r>
              <a:rPr lang="ko-KR" altLang="en-US" sz="1800" b="1" i="0" dirty="0" err="1">
                <a:effectLst/>
                <a:latin typeface="+mn-lt"/>
              </a:rPr>
              <a:t>깨달았습니다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바로 데이터는 우리가 막연히 알고 있던 사실을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훨씬 더 객관적이고 날카로운 숫자로 증명해 준다는 점입니다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이를 통해 데이터 분석이 헬스케어 분야에서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얼마나 강력한 의사결정 도구가 될 수 있는지 깊이 체감할 수 있었습니다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물론 과정이 순탄치만은 않았습니다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분석 과정에서 실수도 많았고 예상치 못한 어려움에 부딪혀 힘든 순간도 있었습니다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  <a:r>
              <a:rPr lang="ko-KR" altLang="en-US" sz="1800" b="1" i="0" dirty="0">
                <a:effectLst/>
                <a:latin typeface="+mn-lt"/>
              </a:rPr>
              <a:t>하지만 </a:t>
            </a:r>
            <a:r>
              <a:rPr lang="en-US" altLang="ko-KR" sz="1800" b="1" i="0" dirty="0">
                <a:effectLst/>
                <a:latin typeface="+mn-lt"/>
              </a:rPr>
              <a:t>'</a:t>
            </a:r>
            <a:r>
              <a:rPr lang="ko-KR" altLang="en-US" sz="1800" b="1" i="0" dirty="0">
                <a:effectLst/>
                <a:latin typeface="+mn-lt"/>
              </a:rPr>
              <a:t>내 계좌 </a:t>
            </a:r>
            <a:r>
              <a:rPr lang="en-US" altLang="ko-KR" sz="1800" b="1" i="0" dirty="0">
                <a:effectLst/>
                <a:latin typeface="+mn-lt"/>
              </a:rPr>
              <a:t>9</a:t>
            </a:r>
            <a:r>
              <a:rPr lang="ko-KR" altLang="en-US" sz="1800" b="1" i="0" dirty="0">
                <a:effectLst/>
                <a:latin typeface="+mn-lt"/>
              </a:rPr>
              <a:t>조</a:t>
            </a:r>
            <a:r>
              <a:rPr lang="en-US" altLang="ko-KR" sz="1800" b="1" i="0" dirty="0">
                <a:effectLst/>
                <a:latin typeface="+mn-lt"/>
              </a:rPr>
              <a:t>' </a:t>
            </a:r>
            <a:r>
              <a:rPr lang="ko-KR" altLang="en-US" sz="1800" b="1" i="0" dirty="0">
                <a:effectLst/>
                <a:latin typeface="+mn-lt"/>
              </a:rPr>
              <a:t>팀원들과 함께 지식을 공유하며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각자의 분석 결과를 하나의 완성된 스토리라인으로 엮어가는 과정은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무엇보다 값진 경험이었습니다</a:t>
            </a:r>
            <a:r>
              <a:rPr lang="en-US" altLang="ko-KR" sz="1800" b="1" i="0" dirty="0">
                <a:effectLst/>
                <a:latin typeface="+mn-lt"/>
              </a:rPr>
              <a:t>. </a:t>
            </a: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특히</a:t>
            </a:r>
            <a:r>
              <a:rPr lang="en-US" altLang="ko-KR" sz="1800" b="1" i="0" dirty="0">
                <a:effectLst/>
                <a:latin typeface="+mn-lt"/>
              </a:rPr>
              <a:t>, </a:t>
            </a:r>
            <a:r>
              <a:rPr lang="ko-KR" altLang="en-US" sz="1800" b="1" i="0" dirty="0">
                <a:effectLst/>
                <a:latin typeface="+mn-lt"/>
              </a:rPr>
              <a:t>부족한 부분들을 잘 보듬어 주시고 프로젝트를 끝까지 멋지게 이끌어 주신 </a:t>
            </a:r>
            <a:endParaRPr lang="en-US" altLang="ko-KR" sz="1800" b="1" i="0" dirty="0">
              <a:effectLst/>
              <a:latin typeface="+mn-lt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sz="1800" b="1" i="0" dirty="0">
                <a:effectLst/>
                <a:latin typeface="+mn-lt"/>
              </a:rPr>
              <a:t>저희 조장님께 진심으로 감사드린다는 말씀을 전하며</a:t>
            </a:r>
            <a:r>
              <a:rPr lang="en-US" altLang="ko-KR" sz="1800" b="1" i="0" dirty="0">
                <a:effectLst/>
                <a:latin typeface="+mn-lt"/>
              </a:rPr>
              <a:t>, </a:t>
            </a:r>
            <a:r>
              <a:rPr lang="ko-KR" altLang="en-US" sz="1800" b="1" i="0" dirty="0">
                <a:effectLst/>
                <a:latin typeface="+mn-lt"/>
              </a:rPr>
              <a:t>이상으로 마치겠습니다</a:t>
            </a:r>
            <a:r>
              <a:rPr lang="en-US" altLang="ko-KR" sz="1800" b="1" i="0" dirty="0">
                <a:effectLst/>
                <a:latin typeface="+mn-lt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latin typeface="+mn-lt"/>
              <a:ea typeface="210 Gulim 030"/>
              <a:cs typeface="210 Gulim 030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5758" y="3936254"/>
            <a:ext cx="5194300" cy="1066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108511" y="4083051"/>
            <a:ext cx="3352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b="1" dirty="0">
                <a:latin typeface="Calibri" panose="020F0502020204030204" pitchFamily="34" charset="0"/>
                <a:ea typeface="210 Gulim 050"/>
                <a:cs typeface="Calibri" panose="020F0502020204030204" pitchFamily="34" charset="0"/>
              </a:rPr>
              <a:t>신정호</a:t>
            </a:r>
            <a:endParaRPr lang="en-US" sz="3333" b="1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33782" y="3936254"/>
            <a:ext cx="5194300" cy="10668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157200" y="4077822"/>
            <a:ext cx="3352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b="1" dirty="0">
                <a:latin typeface="Calibri" panose="020F0502020204030204" pitchFamily="34" charset="0"/>
                <a:ea typeface="210 Gulim 050"/>
                <a:cs typeface="Calibri" panose="020F0502020204030204" pitchFamily="34" charset="0"/>
              </a:rPr>
              <a:t>신재욱</a:t>
            </a:r>
            <a:endParaRPr lang="en-US" sz="3333" b="1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0112" y="7944224"/>
            <a:ext cx="10607488" cy="4095376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33782" y="8229600"/>
            <a:ext cx="5194300" cy="1066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57200" y="8373783"/>
            <a:ext cx="3352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b="1" dirty="0">
                <a:latin typeface="Calibri" panose="020F0502020204030204" pitchFamily="34" charset="0"/>
                <a:ea typeface="210 Gulim 050"/>
                <a:cs typeface="Calibri" panose="020F0502020204030204" pitchFamily="34" charset="0"/>
              </a:rPr>
              <a:t>정정화</a:t>
            </a:r>
            <a:endParaRPr lang="en-US" sz="3333" b="1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08827" y="9296399"/>
            <a:ext cx="9892371" cy="250115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그동안 배운 내용들을 종합적으로 활용해볼 수 있어서 좋았고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, </a:t>
            </a:r>
          </a:p>
          <a:p>
            <a:pPr lvl="0" algn="l">
              <a:lnSpc>
                <a:spcPct val="141100"/>
              </a:lnSpc>
            </a:pP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개념만 이해하고 실제로 어떻게 코드를 짜야 작동하는지 몰랐던 모듈화를 </a:t>
            </a:r>
            <a:endParaRPr lang="en-US" altLang="ko-KR" sz="1800" b="1" i="0" u="none" strike="noStrike" dirty="0">
              <a:solidFill>
                <a:srgbClr val="000000"/>
              </a:solidFill>
              <a:ea typeface="210 Gulim 030"/>
              <a:cs typeface="210 Gulim 030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800" b="1" dirty="0">
                <a:ea typeface="210 Gulim 030"/>
                <a:cs typeface="210 Gulim 030"/>
              </a:rPr>
              <a:t>직접 </a:t>
            </a: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해볼 수 있어서 좋았습니다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.</a:t>
            </a:r>
          </a:p>
          <a:p>
            <a:pPr lvl="0" algn="l">
              <a:lnSpc>
                <a:spcPct val="141100"/>
              </a:lnSpc>
            </a:pP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의욕만 앞서서 팀원들 쉬는 시간도 잘 </a:t>
            </a:r>
            <a:r>
              <a:rPr lang="ko-KR" altLang="en-US" sz="1800" b="1" i="0" u="none" strike="noStrike" dirty="0" err="1">
                <a:solidFill>
                  <a:srgbClr val="000000"/>
                </a:solidFill>
                <a:ea typeface="210 Gulim 030"/>
                <a:cs typeface="210 Gulim 030"/>
              </a:rPr>
              <a:t>못챙기고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,</a:t>
            </a: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 세심하게 체크 못한 부족한 팀장임에도</a:t>
            </a:r>
          </a:p>
          <a:p>
            <a:pPr lvl="0" algn="l">
              <a:lnSpc>
                <a:spcPct val="141100"/>
              </a:lnSpc>
            </a:pP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모든 팀원들께서 적극적으로 프로젝트에 임해주시고 </a:t>
            </a:r>
            <a:r>
              <a:rPr lang="ko-KR" altLang="en-US" sz="1800" b="1" i="0" u="none" strike="noStrike" dirty="0" err="1">
                <a:solidFill>
                  <a:srgbClr val="000000"/>
                </a:solidFill>
                <a:ea typeface="210 Gulim 030"/>
                <a:cs typeface="210 Gulim 030"/>
              </a:rPr>
              <a:t>따라와주셔서</a:t>
            </a: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 너무 감사하고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,</a:t>
            </a:r>
          </a:p>
          <a:p>
            <a:pPr lvl="0" algn="l">
              <a:lnSpc>
                <a:spcPct val="141100"/>
              </a:lnSpc>
            </a:pP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덕분에 이렇게 성공적으로 마무리할 수 있었던 것 같습니다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. </a:t>
            </a:r>
            <a:r>
              <a:rPr lang="ko-KR" altLang="en-US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감사합니다</a:t>
            </a:r>
            <a:r>
              <a:rPr lang="en-US" altLang="ko-KR" sz="1800" b="1" i="0" u="none" strike="noStrike" dirty="0">
                <a:solidFill>
                  <a:srgbClr val="000000"/>
                </a:solidFill>
                <a:ea typeface="210 Gulim 030"/>
                <a:cs typeface="210 Gulim 030"/>
              </a:rPr>
              <a:t>!</a:t>
            </a:r>
            <a:endParaRPr lang="en-US" sz="1800" b="1" i="0" u="none" strike="noStrike" dirty="0">
              <a:solidFill>
                <a:srgbClr val="000000"/>
              </a:solidFill>
              <a:ea typeface="210 Gulim 030"/>
              <a:cs typeface="210 Gulim 03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0" y="635000"/>
            <a:ext cx="23114000" cy="12446000"/>
          </a:xfrm>
          <a:prstGeom prst="rect">
            <a:avLst/>
          </a:prstGeom>
          <a:noFill/>
          <a:ln>
            <a:noFill/>
          </a:ln>
          <a:effectLst>
            <a:outerShdw dist="191477" dir="2700000">
              <a:srgbClr val="000000">
                <a:alpha val="13725"/>
              </a:srgbClr>
            </a:outerShdw>
          </a:effectLst>
        </p:spPr>
      </p:pic>
      <p:pic>
        <p:nvPicPr>
          <p:cNvPr id="840" name="Google Shape;84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11239500"/>
            <a:ext cx="134112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7"/>
          <p:cNvSpPr txBox="1"/>
          <p:nvPr/>
        </p:nvSpPr>
        <p:spPr>
          <a:xfrm>
            <a:off x="6210300" y="11379200"/>
            <a:ext cx="119634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/>
              <a:buNone/>
            </a:pPr>
            <a:r>
              <a:rPr lang="en-US" sz="3599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내 </a:t>
            </a:r>
            <a:r>
              <a:rPr lang="en-US" sz="3599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계좌</a:t>
            </a:r>
            <a:r>
              <a:rPr lang="en-US" sz="3599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9조  </a:t>
            </a:r>
            <a:r>
              <a:rPr lang="en-US" sz="3599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신재욱</a:t>
            </a:r>
            <a:r>
              <a:rPr lang="en-US" sz="3599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3599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신정호</a:t>
            </a:r>
            <a:r>
              <a:rPr lang="en-US" sz="3599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3599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정정화</a:t>
            </a:r>
            <a:endParaRPr sz="3599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7"/>
          <p:cNvSpPr txBox="1"/>
          <p:nvPr/>
        </p:nvSpPr>
        <p:spPr>
          <a:xfrm>
            <a:off x="4343400" y="5194300"/>
            <a:ext cx="15684500" cy="3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9"/>
              <a:buFont typeface="Arial"/>
              <a:buNone/>
            </a:pPr>
            <a:r>
              <a:rPr lang="en-US" sz="950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9"/>
              <a:buFont typeface="Arial"/>
              <a:buNone/>
            </a:pPr>
            <a:r>
              <a:rPr lang="en-US" sz="950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0502900"/>
            <a:ext cx="226695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58600" y="3416300"/>
            <a:ext cx="1066800" cy="13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2049</Words>
  <Application>Microsoft Macintosh PowerPoint</Application>
  <PresentationFormat>사용자 지정</PresentationFormat>
  <Paragraphs>305</Paragraphs>
  <Slides>39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210 Gulim 030</vt:lpstr>
      <vt:lpstr>Malgun Gothic</vt:lpstr>
      <vt:lpstr>gg sans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</dc:creator>
  <cp:lastModifiedBy>정화 정</cp:lastModifiedBy>
  <cp:revision>6</cp:revision>
  <dcterms:created xsi:type="dcterms:W3CDTF">2006-08-16T00:00:00Z</dcterms:created>
  <dcterms:modified xsi:type="dcterms:W3CDTF">2026-02-01T11:33:41Z</dcterms:modified>
</cp:coreProperties>
</file>